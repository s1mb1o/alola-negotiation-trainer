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a6ea8f418d4d14" /><Relationship Type="http://schemas.openxmlformats.org/officeDocument/2006/relationships/extended-properties" Target="/docProps/app.xml" Id="Ra62e7729417c4aeb" /><Relationship Type="http://schemas.openxmlformats.org/officeDocument/2006/relationships/officeDocument" Target="/ppt/presentation.xml" Id="Rd9b6dcc041db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579287ff0f4d30"/>
  </p:sldMasterIdLst>
  <p:notesMasterIdLst>
    <p:notesMasterId xmlns:r="http://schemas.openxmlformats.org/officeDocument/2006/relationships" r:id="R82c08e81aa794e42"/>
  </p:notesMasterIdLst>
  <p:sldIdLst>
    <p:sldId xmlns:r="http://schemas.openxmlformats.org/officeDocument/2006/relationships" id="256" r:id="Rcf8fd5750b8e46f0"/>
    <p:sldId xmlns:r="http://schemas.openxmlformats.org/officeDocument/2006/relationships" id="257" r:id="Readfedf7929742eb"/>
    <p:sldId xmlns:r="http://schemas.openxmlformats.org/officeDocument/2006/relationships" id="258" r:id="R00d922b355ff4116"/>
    <p:sldId xmlns:r="http://schemas.openxmlformats.org/officeDocument/2006/relationships" id="259" r:id="R11b0628271b94ca7"/>
    <p:sldId xmlns:r="http://schemas.openxmlformats.org/officeDocument/2006/relationships" id="260" r:id="Ra6874e0f50474db1"/>
    <p:sldId xmlns:r="http://schemas.openxmlformats.org/officeDocument/2006/relationships" id="261" r:id="R966bd41187604531"/>
    <p:sldId xmlns:r="http://schemas.openxmlformats.org/officeDocument/2006/relationships" id="262" r:id="Rf0f3aac552694bf8"/>
    <p:sldId xmlns:r="http://schemas.openxmlformats.org/officeDocument/2006/relationships" id="263" r:id="Rd6fe42b9c6574fcb"/>
    <p:sldId xmlns:r="http://schemas.openxmlformats.org/officeDocument/2006/relationships" id="264" r:id="Rbb952fef94ce4ab8"/>
    <p:sldId xmlns:r="http://schemas.openxmlformats.org/officeDocument/2006/relationships" id="265" r:id="Rbd6a4cc2c2914969"/>
    <p:sldId xmlns:r="http://schemas.openxmlformats.org/officeDocument/2006/relationships" id="266" r:id="R07cfd04af8ab41ad"/>
    <p:sldId xmlns:r="http://schemas.openxmlformats.org/officeDocument/2006/relationships" id="267" r:id="R22f95be0f4994faa"/>
    <p:sldId xmlns:r="http://schemas.openxmlformats.org/officeDocument/2006/relationships" id="268" r:id="R6bdfe9a5a90e46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2774e845944e64" /><Relationship Type="http://schemas.openxmlformats.org/officeDocument/2006/relationships/slideMaster" Target="/ppt/slideMasters/slideMaster1.xml" Id="R7b579287ff0f4d30" /><Relationship Type="http://schemas.openxmlformats.org/officeDocument/2006/relationships/notesMaster" Target="/ppt/notesMasters/notesMaster1.xml" Id="R82c08e81aa794e42" /><Relationship Type="http://schemas.openxmlformats.org/officeDocument/2006/relationships/presProps" Target="/ppt/presProps.xml" Id="Raf8ddeb2f46d470e" /><Relationship Type="http://schemas.openxmlformats.org/officeDocument/2006/relationships/viewProps" Target="/ppt/viewProps.xml" Id="R417606ee5f2f4618" /><Relationship Type="http://schemas.openxmlformats.org/officeDocument/2006/relationships/tableStyles" Target="/ppt/tableStyles.xml" Id="Ra3300d7107ee4ab3" /><Relationship Type="http://schemas.openxmlformats.org/officeDocument/2006/relationships/slide" Target="/ppt/slides/slide1.xml" Id="Rcf8fd5750b8e46f0" /><Relationship Type="http://schemas.openxmlformats.org/officeDocument/2006/relationships/slide" Target="/ppt/slides/slide2.xml" Id="Readfedf7929742eb" /><Relationship Type="http://schemas.openxmlformats.org/officeDocument/2006/relationships/slide" Target="/ppt/slides/slide3.xml" Id="R00d922b355ff4116" /><Relationship Type="http://schemas.openxmlformats.org/officeDocument/2006/relationships/slide" Target="/ppt/slides/slide4.xml" Id="R11b0628271b94ca7" /><Relationship Type="http://schemas.openxmlformats.org/officeDocument/2006/relationships/slide" Target="/ppt/slides/slide5.xml" Id="Ra6874e0f50474db1" /><Relationship Type="http://schemas.openxmlformats.org/officeDocument/2006/relationships/slide" Target="/ppt/slides/slide6.xml" Id="R966bd41187604531" /><Relationship Type="http://schemas.openxmlformats.org/officeDocument/2006/relationships/slide" Target="/ppt/slides/slide7.xml" Id="Rf0f3aac552694bf8" /><Relationship Type="http://schemas.openxmlformats.org/officeDocument/2006/relationships/slide" Target="/ppt/slides/slide8.xml" Id="Rd6fe42b9c6574fcb" /><Relationship Type="http://schemas.openxmlformats.org/officeDocument/2006/relationships/slide" Target="/ppt/slides/slide9.xml" Id="Rbb952fef94ce4ab8" /><Relationship Type="http://schemas.openxmlformats.org/officeDocument/2006/relationships/slide" Target="/ppt/slides/slide10.xml" Id="Rbd6a4cc2c2914969" /><Relationship Type="http://schemas.openxmlformats.org/officeDocument/2006/relationships/slide" Target="/ppt/slides/slide11.xml" Id="R07cfd04af8ab41ad" /><Relationship Type="http://schemas.openxmlformats.org/officeDocument/2006/relationships/slide" Target="/ppt/slides/slide12.xml" Id="R22f95be0f4994faa" /><Relationship Type="http://schemas.openxmlformats.org/officeDocument/2006/relationships/slide" Target="/ppt/slides/slide13.xml" Id="R6bdfe9a5a90e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33230fbf57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08fdd527bf4d39" /><Relationship Type="http://schemas.openxmlformats.org/officeDocument/2006/relationships/notesMaster" Target="/ppt/notesMasters/notesMaster1.xml" Id="R8d2e38c86e2341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5a599f614c4b1b" /><Relationship Type="http://schemas.openxmlformats.org/officeDocument/2006/relationships/notesMaster" Target="/ppt/notesMasters/notesMaster1.xml" Id="R9a7ae0aac0aa44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fe6f15bdf54e99" /><Relationship Type="http://schemas.openxmlformats.org/officeDocument/2006/relationships/notesMaster" Target="/ppt/notesMasters/notesMaster1.xml" Id="R2b54e92f05e146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c78131951449a" /><Relationship Type="http://schemas.openxmlformats.org/officeDocument/2006/relationships/notesMaster" Target="/ppt/notesMasters/notesMaster1.xml" Id="R8fbfc7f68a6e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b1c761a65420e" /><Relationship Type="http://schemas.openxmlformats.org/officeDocument/2006/relationships/notesMaster" Target="/ppt/notesMasters/notesMaster1.xml" Id="R8f20dbb34b754d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3a176ce4d54a18" /><Relationship Type="http://schemas.openxmlformats.org/officeDocument/2006/relationships/notesMaster" Target="/ppt/notesMasters/notesMaster1.xml" Id="Rbb3b75e6595f48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7add8d979a43cb" /><Relationship Type="http://schemas.openxmlformats.org/officeDocument/2006/relationships/notesMaster" Target="/ppt/notesMasters/notesMaster1.xml" Id="Rf4c6fd2d83a049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af7fc5dcfb4d18" /><Relationship Type="http://schemas.openxmlformats.org/officeDocument/2006/relationships/notesMaster" Target="/ppt/notesMasters/notesMaster1.xml" Id="R54e86311940a44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f9f91379de4a05" /><Relationship Type="http://schemas.openxmlformats.org/officeDocument/2006/relationships/notesMaster" Target="/ppt/notesMasters/notesMaster1.xml" Id="R49a955d90def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7bc790c0e54c57" /><Relationship Type="http://schemas.openxmlformats.org/officeDocument/2006/relationships/notesMaster" Target="/ppt/notesMasters/notesMaster1.xml" Id="Rf8c6e3c559b543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880968a3624c55" /><Relationship Type="http://schemas.openxmlformats.org/officeDocument/2006/relationships/notesMaster" Target="/ppt/notesMasters/notesMaster1.xml" Id="Reef241799bb541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eb7c3339e74c15" /><Relationship Type="http://schemas.openxmlformats.org/officeDocument/2006/relationships/notesMaster" Target="/ppt/notesMasters/notesMaster1.xml" Id="R3d3ce2c0e7ec4c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85a023525748eb" /><Relationship Type="http://schemas.openxmlformats.org/officeDocument/2006/relationships/notesMaster" Target="/ppt/notesMasters/notesMaster1.xml" Id="Rbee7d7cbef30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ALOLA. Конкурсная презентация по задаче № 9.</a:t>
            </a:r>
          </a:p>
          <a:p xmlns:a="http://schemas.openxmlformats.org/drawingml/2006/main">
            <a:r>
              <a:t>Визуальный ритм основан на референсе arena-presentation.pdf.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alola-negotiation-trainer/docs/specs/architecture.md</a:t>
            </a:r>
          </a:p>
          <a:p xmlns:a="http://schemas.openxmlformats.org/drawingml/2006/main">
            <a:r>
              <a:t>Источник: alola-negotiation-trainer/docs/specs/player-api.md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Снимки получены 2026-09-29 из локального ALOLA в template-only режиме.</a:t>
            </a:r>
          </a:p>
          <a:p xmlns:a="http://schemas.openxmlformats.org/drawingml/2006/main">
            <a:r>
              <a:t>Внешние LLM-вызовы не использовались.</a:t>
            </a:r>
          </a:p>
          <a:p xmlns:a="http://schemas.openxmlformats.org/drawingml/2006/main">
            <a:r>
              <a:t>Показан честный исход без сделки. Выход сам по себе не считается успехом или неудачей.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alola-negotiation-trainer/docs/decisions/001-negotiation-methodology.md</a:t>
            </a:r>
            <a:endParaRPr/>
          </a:p>
          <a:p xmlns:a="http://schemas.openxmlformats.org/drawingml/2006/main">
            <a:r>
              <a:t>BATNA и reservation utility хранятся как разные понятия.</a:t>
            </a:r>
            <a:endParaRPr/>
          </a:p>
          <a:p xmlns:a="http://schemas.openxmlformats.org/drawingml/2006/main">
            <a:r>
              <a:t>Тактики Восса используются как опциональные речевые приёмы.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alola-negotiation-trainer/scripts/run-qwen-api.sh</a:t>
            </a:r>
          </a:p>
          <a:p xmlns:a="http://schemas.openxmlformats.org/drawingml/2006/main">
            <a:r>
              <a:t>Источник: alola-negotiation-trainer/docs/benchmarks/qwencloud-api-model-benchmark.md</a:t>
            </a:r>
          </a:p>
          <a:p xmlns:a="http://schemas.openxmlformats.org/drawingml/2006/main">
            <a:r>
              <a:t>Сравнение относится к переговорной задаче. Оно не является оценкой общего интеллекта.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alola-negotiation-trainer/src/alola_negotiation_trainer/training.py</a:t>
            </a:r>
            <a:endParaRPr/>
          </a:p>
          <a:p xmlns:a="http://schemas.openxmlformats.org/drawingml/2006/main">
            <a:r>
              <a:t>Источник: alola-negotiation-trainer/docs/specs/training.md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alola-negotiation-trainer/src/alola_negotiation_trainer/training.py</a:t>
            </a:r>
          </a:p>
          <a:p xmlns:a="http://schemas.openxmlformats.org/drawingml/2006/main">
            <a:r>
              <a:t>Live-пример: rapport вырос с 55 до 58. Другие шкалы не изменились.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статус: Player API и CLI self-play реализованы.</a:t>
            </a:r>
            <a:endParaRPr/>
          </a:p>
          <a:p xmlns:a="http://schemas.openxmlformats.org/drawingml/2006/main">
            <a:r>
              <a:t>MCP-адаптер в продукте не реализован. На слайде он обозначен как MCP-ready следующий интерфейс.</a:t>
            </a:r>
            <a:endParaRPr/>
          </a:p>
          <a:p xmlns:a="http://schemas.openxmlformats.org/drawingml/2006/main">
            <a:r>
              <a:t>Источник: alola-negotiation-trainer/docs/specs/player-api.md</a:t>
            </a:r>
            <a:endParaRPr/>
          </a:p>
          <a:p xmlns:a="http://schemas.openxmlformats.org/drawingml/2006/main">
            <a:r>
              <a:t>Источник: alola-negotiation-trainer/docs/benchmarks/qwencloud-api-model-benchmark.md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6d7955e5b49e4" /><Relationship Type="http://schemas.openxmlformats.org/officeDocument/2006/relationships/image" Target="/ppt/media/image2.png" Id="R2fe6774123c7480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db8867a944f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f0010027f42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918e7295641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2cba357b946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e9bb5f899b4c9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3c6a7e80c841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91b8de5824bf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a30c9a7d5843c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b44685a4c844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f529efa0e486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771e580fb4b9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bd3ce37b74f0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3949e6bbc47e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a8bcec76d4d87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062ac541d4cc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7b16bb83840d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47dd3e0d4455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838b955864ef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7220ef2aeb4ad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11ab7859542e4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c0ec731fd416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b41579c4d4cf3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2fe6774123c748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33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96d805b6e537416f" /><Relationship Type="http://schemas.openxmlformats.org/officeDocument/2006/relationships/theme" Target="/ppt/slideMasters/theme/theme2.xml" Id="R81af760d59b64a75" /><Relationship Type="http://schemas.openxmlformats.org/officeDocument/2006/relationships/slideLayout" Target="/ppt/slideLayouts/slideLayout1.xml" Id="R9eb374ae04984eb8" /><Relationship Type="http://schemas.openxmlformats.org/officeDocument/2006/relationships/slideLayout" Target="/ppt/slideLayouts/slideLayout2.xml" Id="R41bcaeff7cff4c8d" /><Relationship Type="http://schemas.openxmlformats.org/officeDocument/2006/relationships/slideLayout" Target="/ppt/slideLayouts/slideLayout3.xml" Id="Re2d09270a4a4471a" /><Relationship Type="http://schemas.openxmlformats.org/officeDocument/2006/relationships/slideLayout" Target="/ppt/slideLayouts/slideLayout4.xml" Id="Rf3493a1565b94cd7" /><Relationship Type="http://schemas.openxmlformats.org/officeDocument/2006/relationships/slideLayout" Target="/ppt/slideLayouts/slideLayout5.xml" Id="Raa8c302104a04ed0" /><Relationship Type="http://schemas.openxmlformats.org/officeDocument/2006/relationships/slideLayout" Target="/ppt/slideLayouts/slideLayout6.xml" Id="R1296939f97d34a84" /><Relationship Type="http://schemas.openxmlformats.org/officeDocument/2006/relationships/slideLayout" Target="/ppt/slideLayouts/slideLayout7.xml" Id="Rf609b30581434e2e" /><Relationship Type="http://schemas.openxmlformats.org/officeDocument/2006/relationships/slideLayout" Target="/ppt/slideLayouts/slideLayout8.xml" Id="R701ed4759699437e" /><Relationship Type="http://schemas.openxmlformats.org/officeDocument/2006/relationships/slideLayout" Target="/ppt/slideLayouts/slideLayout9.xml" Id="Re11a1470d35c43e3" /><Relationship Type="http://schemas.openxmlformats.org/officeDocument/2006/relationships/slideLayout" Target="/ppt/slideLayouts/slideLayout10.xml" Id="Rb413f37931974caa" /><Relationship Type="http://schemas.openxmlformats.org/officeDocument/2006/relationships/slideLayout" Target="/ppt/slideLayouts/slideLayout11.xml" Id="Rdac8642253344853" /><Relationship Type="http://schemas.openxmlformats.org/officeDocument/2006/relationships/slideLayout" Target="/ppt/slideLayouts/slideLayout12.xml" Id="R131cc6fe600d4c74" /><Relationship Type="http://schemas.openxmlformats.org/officeDocument/2006/relationships/slideLayout" Target="/ppt/slideLayouts/slideLayout13.xml" Id="R1a6920466235415f" /><Relationship Type="http://schemas.openxmlformats.org/officeDocument/2006/relationships/slideLayout" Target="/ppt/slideLayouts/slideLayout14.xml" Id="R55e4e604a0ac4347" /><Relationship Type="http://schemas.openxmlformats.org/officeDocument/2006/relationships/slideLayout" Target="/ppt/slideLayouts/slideLayout15.xml" Id="R162f7ae51e8c42d7" /><Relationship Type="http://schemas.openxmlformats.org/officeDocument/2006/relationships/slideLayout" Target="/ppt/slideLayouts/slideLayout16.xml" Id="R8c07280d2ecc4570" /><Relationship Type="http://schemas.openxmlformats.org/officeDocument/2006/relationships/slideLayout" Target="/ppt/slideLayouts/slideLayout17.xml" Id="Re94e222c0e8a4edc" /><Relationship Type="http://schemas.openxmlformats.org/officeDocument/2006/relationships/slideLayout" Target="/ppt/slideLayouts/slideLayout18.xml" Id="R61d4b8cb8ad14601" /><Relationship Type="http://schemas.openxmlformats.org/officeDocument/2006/relationships/slideLayout" Target="/ppt/slideLayouts/slideLayout19.xml" Id="Ra7065eccd99e4c02" /><Relationship Type="http://schemas.openxmlformats.org/officeDocument/2006/relationships/slideLayout" Target="/ppt/slideLayouts/slideLayout20.xml" Id="R2019393648444b35" /><Relationship Type="http://schemas.openxmlformats.org/officeDocument/2006/relationships/slideLayout" Target="/ppt/slideLayouts/slideLayout21.xml" Id="R3b77790440cd4ab6" /><Relationship Type="http://schemas.openxmlformats.org/officeDocument/2006/relationships/slideLayout" Target="/ppt/slideLayouts/slideLayout22.xml" Id="R80bbe6e5e44a4f01" /><Relationship Type="http://schemas.openxmlformats.org/officeDocument/2006/relationships/slideLayout" Target="/ppt/slideLayouts/slideLayout23.xml" Id="Rca61386365374ae3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6d805b6e537416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b374ae04984eb8"/>
    <p:sldLayoutId xmlns:r="http://schemas.openxmlformats.org/officeDocument/2006/relationships" id="2147483650" r:id="R41bcaeff7cff4c8d"/>
    <p:sldLayoutId xmlns:r="http://schemas.openxmlformats.org/officeDocument/2006/relationships" id="2147483651" r:id="Re2d09270a4a4471a"/>
    <p:sldLayoutId xmlns:r="http://schemas.openxmlformats.org/officeDocument/2006/relationships" id="2147483652" r:id="Rf3493a1565b94cd7"/>
    <p:sldLayoutId xmlns:r="http://schemas.openxmlformats.org/officeDocument/2006/relationships" id="2147483653" r:id="Raa8c302104a04ed0"/>
    <p:sldLayoutId xmlns:r="http://schemas.openxmlformats.org/officeDocument/2006/relationships" id="2147483654" r:id="R1296939f97d34a84"/>
    <p:sldLayoutId xmlns:r="http://schemas.openxmlformats.org/officeDocument/2006/relationships" id="2147483655" r:id="Rf609b30581434e2e"/>
    <p:sldLayoutId xmlns:r="http://schemas.openxmlformats.org/officeDocument/2006/relationships" id="2147483656" r:id="R701ed4759699437e"/>
    <p:sldLayoutId xmlns:r="http://schemas.openxmlformats.org/officeDocument/2006/relationships" id="2147483657" r:id="Re11a1470d35c43e3"/>
    <p:sldLayoutId xmlns:r="http://schemas.openxmlformats.org/officeDocument/2006/relationships" id="2147483658" r:id="Rb413f37931974caa"/>
    <p:sldLayoutId xmlns:r="http://schemas.openxmlformats.org/officeDocument/2006/relationships" id="2147483659" r:id="Rdac8642253344853"/>
    <p:sldLayoutId xmlns:r="http://schemas.openxmlformats.org/officeDocument/2006/relationships" id="2147483660" r:id="R131cc6fe600d4c74"/>
    <p:sldLayoutId xmlns:r="http://schemas.openxmlformats.org/officeDocument/2006/relationships" id="2147483661" r:id="R1a6920466235415f"/>
    <p:sldLayoutId xmlns:r="http://schemas.openxmlformats.org/officeDocument/2006/relationships" id="2147483662" r:id="R55e4e604a0ac4347"/>
    <p:sldLayoutId xmlns:r="http://schemas.openxmlformats.org/officeDocument/2006/relationships" id="2147483663" r:id="R162f7ae51e8c42d7"/>
    <p:sldLayoutId xmlns:r="http://schemas.openxmlformats.org/officeDocument/2006/relationships" id="2147483664" r:id="R8c07280d2ecc4570"/>
    <p:sldLayoutId xmlns:r="http://schemas.openxmlformats.org/officeDocument/2006/relationships" id="2147483665" r:id="Re94e222c0e8a4edc"/>
    <p:sldLayoutId xmlns:r="http://schemas.openxmlformats.org/officeDocument/2006/relationships" id="2147483666" r:id="R61d4b8cb8ad14601"/>
    <p:sldLayoutId xmlns:r="http://schemas.openxmlformats.org/officeDocument/2006/relationships" id="2147483667" r:id="Ra7065eccd99e4c02"/>
    <p:sldLayoutId xmlns:r="http://schemas.openxmlformats.org/officeDocument/2006/relationships" id="2147483668" r:id="R2019393648444b35"/>
    <p:sldLayoutId xmlns:r="http://schemas.openxmlformats.org/officeDocument/2006/relationships" id="2147483669" r:id="R3b77790440cd4ab6"/>
    <p:sldLayoutId xmlns:r="http://schemas.openxmlformats.org/officeDocument/2006/relationships" id="2147483670" r:id="R80bbe6e5e44a4f01"/>
    <p:sldLayoutId xmlns:r="http://schemas.openxmlformats.org/officeDocument/2006/relationships" id="2147483671" r:id="Rca61386365374ae3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8d8554ad14675" /><Relationship Type="http://schemas.openxmlformats.org/officeDocument/2006/relationships/notesSlide" Target="/ppt/notesSlides/notesSlide1.xml" Id="R97895ace047849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61f710c49b4d46" /><Relationship Type="http://schemas.openxmlformats.org/officeDocument/2006/relationships/image" Target="/ppt/media/image3.png" Id="R71e0d4a1e06541b0" /><Relationship Type="http://schemas.openxmlformats.org/officeDocument/2006/relationships/image" Target="/ppt/media/image4.png" Id="R3a331fc9ea64404c" /><Relationship Type="http://schemas.openxmlformats.org/officeDocument/2006/relationships/image" Target="/ppt/media/image5.png" Id="R185e8ed180494ce7" /><Relationship Type="http://schemas.openxmlformats.org/officeDocument/2006/relationships/notesSlide" Target="/ppt/notesSlides/notesSlide2.xml" Id="R816e370c5c9a46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563b40644354dd3" /><Relationship Type="http://schemas.openxmlformats.org/officeDocument/2006/relationships/image" Target="/ppt/media/image.png" Id="R58fd3e49d3944efe" /><Relationship Type="http://schemas.openxmlformats.org/officeDocument/2006/relationships/notesSlide" Target="/ppt/notesSlides/notesSlide3.xml" Id="R4bd516f80bd54d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660fdd9d3d4566" /><Relationship Type="http://schemas.openxmlformats.org/officeDocument/2006/relationships/image" Target="/ppt/media/image6.png" Id="R27b8ddbed73f4de6" /><Relationship Type="http://schemas.openxmlformats.org/officeDocument/2006/relationships/notesSlide" Target="/ppt/notesSlides/notesSlide4.xml" Id="R1f24480489fc40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cf77ab1fc52a4b3d" /><Relationship Type="http://schemas.openxmlformats.org/officeDocument/2006/relationships/image" Target="/ppt/media/image.png" Id="R9275202829894bc4" /><Relationship Type="http://schemas.openxmlformats.org/officeDocument/2006/relationships/notesSlide" Target="/ppt/notesSlides/notesSlide5.xml" Id="Ref0a2242a66d4d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2d9bbd51de5a496d" /><Relationship Type="http://schemas.openxmlformats.org/officeDocument/2006/relationships/image" Target="/ppt/media/image3.png" Id="R9246d83fb72a4353" /><Relationship Type="http://schemas.openxmlformats.org/officeDocument/2006/relationships/notesSlide" Target="/ppt/notesSlides/notesSlide6.xml" Id="R836373a0f2b040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6e5f1d3197634368" /><Relationship Type="http://schemas.openxmlformats.org/officeDocument/2006/relationships/image" Target="/ppt/media/image3.png" Id="Rb6a64a999caa46dd" /><Relationship Type="http://schemas.openxmlformats.org/officeDocument/2006/relationships/image" Target="/ppt/media/image7.png" Id="R61ab4a8006ab4bf4" /><Relationship Type="http://schemas.openxmlformats.org/officeDocument/2006/relationships/image" Target="/ppt/media/image8.png" Id="R02128a30ab6f47a5" /><Relationship Type="http://schemas.openxmlformats.org/officeDocument/2006/relationships/notesSlide" Target="/ppt/notesSlides/notesSlide7.xml" Id="Rd956990072b64e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bd5ccddd1014ba7" /><Relationship Type="http://schemas.openxmlformats.org/officeDocument/2006/relationships/image" Target="/ppt/media/image3.png" Id="R489b8b6408d44b70" /><Relationship Type="http://schemas.openxmlformats.org/officeDocument/2006/relationships/notesSlide" Target="/ppt/notesSlides/notesSlide8.xml" Id="R6b39d7ca32e744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dc67948eae84615" /><Relationship Type="http://schemas.openxmlformats.org/officeDocument/2006/relationships/image" Target="/ppt/media/image6.png" Id="R62a19ca73c544992" /><Relationship Type="http://schemas.openxmlformats.org/officeDocument/2006/relationships/notesSlide" Target="/ppt/notesSlides/notesSlide9.xml" Id="R59967586285743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f20904391c442d7" /><Relationship Type="http://schemas.openxmlformats.org/officeDocument/2006/relationships/image" Target="/ppt/media/image.png" Id="R348ca233ce27415b" /><Relationship Type="http://schemas.openxmlformats.org/officeDocument/2006/relationships/notesSlide" Target="/ppt/notesSlides/notesSlide10.xml" Id="R0c614e45684f48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eba150f14d4730" /><Relationship Type="http://schemas.openxmlformats.org/officeDocument/2006/relationships/image" Target="/ppt/media/image6.png" Id="Rbfd6f7b054724fba" /><Relationship Type="http://schemas.openxmlformats.org/officeDocument/2006/relationships/notesSlide" Target="/ppt/notesSlides/notesSlide11.xml" Id="Rd31d1a9616da4c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36b96c42463a4abb" /><Relationship Type="http://schemas.openxmlformats.org/officeDocument/2006/relationships/image" Target="/ppt/media/image.png" Id="Rf2457c2c90f3452e" /><Relationship Type="http://schemas.openxmlformats.org/officeDocument/2006/relationships/notesSlide" Target="/ppt/notesSlides/notesSlide12.xml" Id="R07f4429a956f4a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05f452dc424571" /><Relationship Type="http://schemas.openxmlformats.org/officeDocument/2006/relationships/image" Target="/ppt/media/image6.png" Id="R3f81c972df2c48a6" /><Relationship Type="http://schemas.openxmlformats.org/officeDocument/2006/relationships/notesSlide" Target="/ppt/notesSlides/notesSlide13.xml" Id="R3aafd70595454a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419F5-A11E-4A27-B1AA-EBBEBDC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ЗАДАЧА № 9  /  ALOLA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1C5B1-73BB-4A42-BA88-892BB79B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6381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Переговоры,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которые можно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переиграть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2FD25-795C-4246-8422-E5171DC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81675"/>
            <a:ext cx="466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CC620-2D0B-40D2-BB26-B385020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AI-first тренажёр для людей и переговорных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0d4a1e06541b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42527-F515-4D28-8F66-32FB9C4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КОМАНДА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FB4ED-D828-42EB-A5D5-04D91E8F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Команда соединяет обучение и реальную практику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9698A-FFA3-49CB-9698-50E18A0F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31fc9ea64404c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e8ed180494ce7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1978D-6628-4E4F-B787-62776C71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Шмелева Ольга Васильевна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1B131F-5729-48DA-BCF4-9A70C706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преподаватель ВАВТ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деловой английский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BAF7C-09D8-49B4-9FCB-49EA7DCF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Головатюк Виталий Владмирович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78E5B-9B5F-4A1D-851A-7FB44753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предприниматель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кандидат юридических наук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ветеран МВД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BAB4D-AB55-4F33-9E31-8E93FD98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9E0C2-2C14-4895-8151-9AF2D684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Безопасная практика переговоров с живым диалогом, структурированной сделкой и разбором по фактам.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9E277-6391-4EA9-9AA0-CFD90103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Движок контролирует экономику и ограничения. LLM отвечает за естественный язык.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E6D86-B462-473A-BCC8-153D7405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C4585-D882-4A0F-9DE9-A5A34A73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Два эксперта формируют методику, сценарии, проверку рисков и критерии разбора.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8fd3e49d3944ef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8C950-6306-4F16-B4B9-4F3FAC2B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КОМАНДА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B9202C-AE61-4ABB-AB07-03F1E93A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Два эксперта закрывают пять зон продукта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BE850-8F52-4290-8E63-80CEA7A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F40D7-1AD3-4EE5-B310-AD22388C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DD856-26A4-4225-82D9-6BEBFDEE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Методика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1D25-DCCD-4D61-B8D9-A9215B7A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098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Интересы, BATNA, ZOPA и критерии разбора. Ольга.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606A7-26E3-454B-8E0B-B74716A9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19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D70C8-3876-4EF7-AC77-369BEF5F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3BD53-5ED6-40AE-958B-302D9F2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0022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Язык и кейсы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80591-9AE0-4B6D-9898-16037EDD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20980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Деловой английский и учебные сценарии. Ольга.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0DD06-7A73-45D6-8079-9F0FDF1D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194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097F0-596B-4820-872D-41C9B1F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95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A3FE9-2759-4AB6-A6B6-B0984A98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086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Практика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126BE-142C-413A-9EEA-92F35AB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495675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Поведение сторон и реалистичность диалога. Виталий.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26A3C7-3026-41D2-A6CC-B7F43218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052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D2EAE-6BAC-46B5-B627-1C1F4ACD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ED1E9-211A-4D39-8A30-1E1895C9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086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Правовые риски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F13BD-1ADC-46FE-B7E8-4EB12FE4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95675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Формулировки, обязательства и границы применения. Виталий.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F878EF-6CF4-4C58-875E-E0FB27DE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0527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31D7C-4BE1-4C46-BEE2-27FDEC3D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815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90120F-B4B1-4C7A-BDAA-E7777D37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371975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Продукт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8CDD0-279E-4CD2-BA29-EE0095C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7815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Проверка гипотез, тестирование и презентация. Совместно.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9A037-A2F7-4F0B-B93E-C11304BE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5054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ОДНА КОМАНДА. ОДИН КРИТЕРИЙ: РЕШЕНИЕ ДОЛЖНО БЫТЬ ПОЛЕЗНО В РЕАЛЬНОМ РАЗГОВОРЕ.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b8ddbed73f4de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C50183-885C-46A8-A552-8163614D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ПРОБЛЕМА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9C0D6-6662-4DC5-8D72-674887E1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Теория не готовит к цене ошибки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DBE99E-5B49-4CCE-859F-CBED7AE4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DAC13-6074-4FB8-B1C5-0599442A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C6A99-1AD1-4D1C-BAE8-BFC7D8E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573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Реальный разговор дорог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B7CE3-5992-421C-A3EF-C52AFAF2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66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Ошибка в цене, сроке или обязательстве сразу влияет на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18858-559F-4CA8-A9EB-6838177B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45EFC-53A4-40E8-AA56-D336DC94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8CFC7-6C0C-4A38-A74A-42A0307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Практику трудно повторить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180A56-0C9A-4851-ABE2-3E9C7E9F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Одинаковый кейс редко проходит в одинаковых условиях. Сравнение теряет смысл.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E50AA-BB50-4836-AE47-D65A7C61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FE70F-9B9D-47D4-AF55-D4260C04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5EE31-5CA4-4EF2-A37C-4A41B9E3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386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Разбору не хватает фактов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20FA0-AE2E-482F-80E2-87E447CA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482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После разговора сложно связать конкретный ход с изменением предложения и итогом.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5149F-83F1-4D92-9671-5608CA08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55532-9A97-42DA-9FB8-0E30FCCD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ALOLA создаёт повторяемую среду: ход, проверка, последствие, разбор.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75202829894bc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23902-32E8-4956-BA59-8C37B1A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МЕХАНИКА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A710B-3F17-42E2-9AB8-3A33B26B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 разделяет экономику сделки и язык диалога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0DABE-064C-417D-8FD4-7F9673B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3059D3-B819-4AC9-B676-C22A1C22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ДВИЖОК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0645D-DCE4-4130-B0EA-D8E93F91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Проверяет полный пакет условий, utility, порог приемлемости и hard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AEB5D-B955-42ED-B820-3296942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36A46-5035-435B-891A-0D228DCD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1D28A9-E843-4036-B13B-60700FCE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Формулирует реплику, поддерживает контекст и создаёт evidence-linked разбор.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E3AF8-F0AF-4863-AC12-AC4F1123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48134-33EF-4B57-B731-2269114D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F5593-55DF-40E1-83F5-DD839DFC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45F3C-AAAA-4752-90B4-C1210EB4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8895F-025D-4F80-90B7-F18D3D6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76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Validated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AD9AE-A64E-4AAF-A2B2-C1C38012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A17CF-C2CF-452E-8456-E1D5F7AF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Event log +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21576-A1F1-4AFD-8F7D-3BB813AB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656B1-6423-4027-9DBB-78765EFF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 не может изменить условия сделки или подтвердить её в обход движка.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246d83fb72a435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4642AD-8420-4F32-89AD-F58DEF07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АРХИТЕКТУРА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E9AD1-B1D1-4F9D-8C08-56EED8C1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Свободный текст проходит через детерминированный движок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AC214-9316-42E4-BF25-326F1C8C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8CB61-FEA5-48E6-862D-80DC2FC2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A405F-1153-47BD-A133-22433BDD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Человек или агент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48D51-F749-436A-A0D6-8B5A579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22513-CDFE-45B2-A153-A158BF8B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49F0A-E501-4C5C-9DB6-7C69D18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2C4F-44A3-49F1-AF3D-2C587EE4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A8E9A-07E2-4A81-90D6-D49F0CE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один контракт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D51EF-831E-40FF-BF9A-2ECA871C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9406C-99AD-46B3-8586-587070DD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D4FE2-DFDA-4547-8129-454DF320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2EF5A4-2396-41B9-8F20-4C9C7A0C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438A4-EF0F-4E1D-84B6-C88AC26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90D7FA-5769-4F2F-9F3A-2FA59B8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AFDD2-B0D9-458B-83CB-5CC030F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708901-6341-4226-ACA5-AD3F7E71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3E105-D4FC-47D4-AC09-E3E462C0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2109F-4080-4F68-B571-46B1E68E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BC8AC4-8815-42E7-BD3A-0F8F7DC4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78E59-1721-452F-9A8A-A027FABA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utility +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5E3AD-9DD6-49A9-A4EB-12D07E42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CD271A-63AC-45F5-AAD2-6530FA6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CB198-6816-4501-820B-BAE96B4A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Event 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0F2395-E7FF-44F4-8C70-997DCE0B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sealed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303C3-A9FC-418A-8AEC-6D8A5851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31D9F-B5EC-48A8-85AD-935CA47E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9E0CC-3883-4284-B790-E1D54C2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D4CEFC-3E0D-4431-A5A6-462BB9CE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факты + повтор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C409C2-3903-4C0A-9E79-B03B456D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ScenarioVersion хранит authored truth. Observation скрывает hidden state. Offer revision содержит полный пакет условий.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25CC28-6441-4CA3-B2D9-BE50F226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B2C790-2F58-4FD6-A974-984A2870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Player API даёт людям и агентам одинаковые правила доступа к сценарию.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6a64a999caa46d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688D5-30FD-4B31-8B88-BA1E78BA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ДЕМОНСТРАЦИЯ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C6E9F-A13C-4549-AF8D-3A8E15FB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Одна сессия даёт разговор и доказательный разбор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83C4B-770B-4F42-84DB-2C03898B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b4a8006ab4b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28a30ab6f47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34125" y="1809750"/>
            <a:ext cx="533400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C74D9-2E75-4871-9074-3DC6ABE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53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Живой диалог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B16A3F-C8B6-4853-9FDE-B6BB4C4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76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Ход, встречное предложение, явная редакция условий.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FC675C-7329-48EC-A7D8-AFA09E4B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53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Разбор по фактам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95C04-214C-420B-8E7B-94F4CF26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6769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Результат, экономика, BATNA и точка для повтора.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89b8b6408d44b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A65205-2138-4AD2-AE2D-6940B6A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ПИЛОТ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EF622-4D08-4E90-9E4A-73FCE995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Пилот начинается с одной учебной группы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4DF23-F225-4850-8ECA-CCF48B96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F034F-3CD0-44E3-85C9-E2ADB4A0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D25337-8F91-49BB-9CD3-1C6859FE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MVP работает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39B1B-6D1D-40FD-8169-3E7AE4FC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B"/>
          </a:solidFill>
          <a:ln xmlns:a="http://schemas.openxmlformats.org/drawingml/2006/main" w="0">
            <a:solidFill>
              <a:srgbClr val="E7F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F2884-38CD-4248-8619-F53658C6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Живой диалог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Структурированная сделка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Разбор и повтор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8EC78-21B3-4667-A9CE-B1855A4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1 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7A30A-CAC3-4A6D-91A5-FF0971C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Кабинет преподавателя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F23CB-D011-45A0-BC98-E7681CF1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03B69-70D2-4373-9398-7F0B6F92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Задания для группы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Сравнение попыток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Экспорт результатов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56499E-C3F0-4BFA-89BC-63B4FE85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ДАЛЬШЕ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E2D8B-1591-461D-A863-A8C7BB6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Три первых сегмента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9E657-601E-4DC3-BF6B-36C28E8C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43250"/>
            <a:ext cx="31432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1E883-FB7C-42EA-8022-7A34668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00425"/>
            <a:ext cx="2686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Вузы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Корпоративное обучение</a:t>
            </a:r>
          </a:p>
          <a:p xmlns:a="http://schemas.openxmlformats.org/drawingml/2006/main">
            <a:pPr>
              <a:def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Школы переговоров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8390B1-78C9-42F8-AAC1-3D4A9125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EB35E-6E60-4CF8-8A8A-2B98BC73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Критерий пилота: преподаватель видит, какой ход изменил предложение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a19ca73c54499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20BCC-580B-44E2-AAD5-251406062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МЕТОДОЛОГИЯ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F04D9-78C3-4DAF-80B8-1CA9A9C8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Методология задаёт, что считать хорошими переговорами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9C852-B421-40BB-BB23-F4E2C02F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CFB42-F5C9-426E-A435-BCABF447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ABB86-7021-4397-B235-FEFC78A1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Гарвардский метод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D15CD-5AB2-4ECC-8C37-4EB7725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Интересы, варианты и объективные критерии отделяются от позиции.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EC1A3-9200-4B56-925C-0239EE1B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6F610-9641-4827-B934-5C8AD8AE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C6885-54EC-4D1D-8A16-F41B036C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BATNA и порог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BD6F7-3BC4-4FE9-96FA-FDC82C1E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BATNA описывает лучший исход без сделки. Порог задаёт минимально приемлемый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8CB47-1391-403D-88CB-8F6ED8A4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E6F3F-F1B2-443F-9F4D-865AFF1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CCCA3-3014-4112-9440-C8C23042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ZOPA и Pareto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24F60-61BD-42B4-A958-CF04028E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Система ищет многомерные пакеты и отличает создание ценности от её распределения.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D97AC-CFEF-4C4B-B05C-D870A012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BD80E1-3F2A-4B97-9AFE-A0F1F207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Тактики Восса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E78A17-E7A2-433C-925A-E353C85A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Labels, mirrors, summaries и вопросы «что» и «как» поддерживают процесс.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1D3A4-E4AA-45E3-A52C-BECBE8B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0154F1-5047-41A1-B221-AED9EA1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Движок выбирает допустимое действие. LLM формулирует его и связывает разбор с репликами.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48ca233ce27415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098B4-123C-41E4-8840-E6044931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5FE5C-32A4-4F7B-99EC-F742DFBA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Каждая LLM решает одну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A1DC6-3575-4553-8274-A07D797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167E3-B062-4030-9AC7-DC4F3244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Настройка модели привязана к ожидаемому эффекту. Движок сохраняет контроль над сделкой.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A636B-E6E9-4202-8662-92B4E0B7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BEDC1-FB0C-4423-BFB2-353E3678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230505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6063"/>
                <a:gridCol w="3231833"/>
                <a:gridCol w="5126355"/>
              </a:tblGrid>
              <a:tr h="514350">
                <a:tc>
                  <a:txBody>
                    <a:bodyPr/>
                    <a:lstStyle/>
                    <a:p>
                      <a:r>
                        <a:t>Задача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Модель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Ожидаемый эффект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Диалог NPC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deepseek-v4.1-flash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Быстрая естественная реплика. Thinking выключен. Grounding обязателен.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Control tasks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deepseek-v4-flash-0731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Структурная обработка. Действие проходит validator и engine.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Итоговый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qwen3.8-max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Редкий глубокий разбор по sealed transcript и evidence.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EDB74-1D5D-4AFC-987B-D4B96AB9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11 моделей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5DF1C-BCCB-443B-AE60-557E664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220 fresh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86C58-8AFD-4FC8-8D5F-B985E59E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role swap, RU/EN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4EAC2-4413-470F-AD89-E39F16B5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95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метрики переговорной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fd6f7b054724fb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786F8-2416-4752-AD88-36111AC3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СИМУЛЯЦИЯ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2079B-9718-4E92-A498-D0E38A8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Отношения меняют тон. Условия сделки остаются прежними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24254-81A3-43DB-A4DD-BF41C149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C62A9-4563-4A94-B50C-12684ADA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Базовое состояние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681B0-A590-4121-BF79-CE29FD6D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EBE1B6-7A03-46EF-9332-76316CA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522D8-C1C9-42DB-9E9E-B96D6A5A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A8AFA-0BFD-4D3B-AB62-119A6E77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96440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4F"/>
          </a:solidFill>
          <a:ln xmlns:a="http://schemas.openxmlformats.org/drawingml/2006/main" w="0">
            <a:solidFill>
              <a:srgbClr val="246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6F52E-CAE7-47C8-A7D3-B354448C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CREDIBILITY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79A99-35E3-439A-80C9-EA08C80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E9D04E-27B7-4817-9B39-F2FE4309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0117B-3B6F-47A8-A42D-BCBFFE66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1285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90264-7B90-4ECE-9460-4CD0BFA5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E4C7D-03DE-4F80-AD13-E8AF5C97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941DF-4335-4FDA-A4D3-1BBD5D24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35C83-8A43-414E-B80F-3B29508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6CA8B-555A-4DCF-830D-FEB58A8B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PATIENCE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E785B-B330-4EAC-997A-20DED2F0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3033CC-6ED9-4DC4-B8FC-E542353B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BF4C8-CA69-47E3-94CF-2EED58B6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solidFill>
              <a:srgbClr val="2D9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98F15-696D-442A-B011-82CA2798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523875" y="3638550"/>
          <a:ext xmlns:a="http://schemas.openxmlformats.org/drawingml/2006/main" cx="11144250" cy="209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89250"/>
                <a:gridCol w="2682875"/>
                <a:gridCol w="5572125"/>
              </a:tblGrid>
              <a:tr h="438150">
                <a:tc>
                  <a:txBody>
                    <a:bodyPr/>
                    <a:lstStyle/>
                    <a:p>
                      <a:r>
                        <a:t>Событие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Изменение шкал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Эффект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Уместный вопрос о Гуффи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Реплика становится теплее. Экономика не меняется.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Оскорбление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-6, tension +8, patience 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Тон становится жёстче. Терпение снижается.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Извинение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+2, tension 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Напряжение снижается. Порог сделки остаётся прежним.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037D2F-689E-4F75-9E76-95685AD7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53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Параметры симуляции 0–100. Они не являются психометрическими измерениями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2457c2c90f3452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96F30-F443-4185-AECE-98E53CFF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КОНТЕКСТ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17C81-1DE3-4C6E-AC1F-A0910881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Гуффи проверяет память и естественность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C1C-E29D-4B51-8AFB-B64FF45E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B64E1-397A-486C-9625-385F5570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4312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A84DA-E0E4-4CCB-8747-AACE59C5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43150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3A544-7938-4D45-B673-FFF9570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43125"/>
            <a:ext cx="1714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55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58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7D45D-F1BC-4666-AF86-1E8D113F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14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3219A-5A21-457B-B672-649D5336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0383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18968-00D3-4A29-92EF-A90553F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288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Безопасный личный факт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879CC-D7DC-4679-A925-A7FCD55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384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У NPC есть собака по имени Гуффи. Тема даёт естественный вход в small talk.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16714-C281-47B2-BF5D-8EA6088F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051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34ABC-D3CE-4C15-AC9F-06165185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86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ECABA-E1C7-447C-8135-224726B6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766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 контекста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3172A-96F5-4A02-A77D-A20F7C54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862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Уместный вопрос показывает внимание к деталям и умение вернуться к предмету сделки.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2BA6B-A359-4803-ACDB-41C23EEA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5295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CA293-500E-4712-9620-35CCEA98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339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C819F9-4EDE-4885-B865-B4A36E6F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924425"/>
            <a:ext cx="497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Ограниченный эффект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2A718-2CD1-47C6-BA7C-70F80907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334000"/>
            <a:ext cx="497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Rapport растёт на 3. Credibility, utility и условия сделки не меняются.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367F1-98B4-4975-BD7D-4676C8F2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19625"/>
            <a:ext cx="414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Повторение темы получает penalty. Гуффи не является механикой скидки.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f81c972df2c48a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E86213-862D-497E-B301-F4027AF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АГЕНТЫ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BF3C0-DB21-4483-9E99-17000C20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Две LLM сравниваются в одинаковых условиях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11B71-7371-4109-934B-0F1F12C6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975BE-695B-41A4-9077-6A271F9C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857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7B5C-B052-46CB-A067-D055287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83887-CECE-4109-BD11-20EAA82B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F4152-D995-40A2-8EB5-CDB2009A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EE585-5191-46C7-9484-A138B2F1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BA862-5676-4BD8-97F7-ED79C98D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08722-818F-41DB-9B38-CA45409F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EBA49-AE17-425F-B143-E312F5BE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B68C5-BD13-47E6-BCB6-58E6D00D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177E-3D47-4695-BEE6-46C47DFE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56941-0534-4371-B242-D919554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E5F90-8C8F-450E-BCF5-38EDF520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50C5C-A57C-4158-AAA6-AC51F7FE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03A25-1BF1-46C7-ACDF-4B9F76F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AC635-CE4B-498C-B97F-B20B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0A813-BD7F-44F6-96C3-A229905F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F1ABF-FD7C-4BC8-83BA-E180F357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47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BD410A-C539-45D8-89AA-21229D1D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9357C-401F-4435-8E30-EAC54898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233A1-6E17-45CC-BA4D-BEA52288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5F1EA-1320-4916-BB3E-152011C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 и CLI self-play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F63759-2024-4577-AFB9-DF0ECB59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MCP-адаптер остаётся следующим интерфейсом поверх тех же безопасных операций.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6B7637-2265-4E4B-BAB3-639EE26E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СРАВНИВАЕМ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D1C27F-3508-41F4-BD1F-D6DDF4D1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Agreement, utility, constraints, вопросы, latency,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A58167-09DB-436C-9B8D-80D3844E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Вывод относится к переговорным когнитивным навыкам в заданной среде.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CBB9AA-A379-4A80-841F-14CD6D3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07EA91-6758-4769-AAFA-84D05B3F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Одинаковый сценарий, fresh sessions, смена ролей, RU/EN и sealed transcript.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2026-09-28T21:55:52.7150000Z</dcterms:created>
  <dcterms:modified xsi:type="dcterms:W3CDTF">2026-09-28T21:55:52.7150000Z</dcterms:modified>
</coreProperties>
</file>