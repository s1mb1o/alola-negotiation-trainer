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410ac6d3b04593" /><Relationship Type="http://schemas.openxmlformats.org/officeDocument/2006/relationships/extended-properties" Target="/docProps/app.xml" Id="R41b91903b3444628" /><Relationship Type="http://schemas.openxmlformats.org/officeDocument/2006/relationships/officeDocument" Target="/ppt/presentation.xml" Id="R4319e737c2e548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02eac75acc4c17"/>
  </p:sldMasterIdLst>
  <p:notesMasterIdLst>
    <p:notesMasterId xmlns:r="http://schemas.openxmlformats.org/officeDocument/2006/relationships" r:id="R64619b2263e34f41"/>
  </p:notesMasterIdLst>
  <p:sldIdLst>
    <p:sldId xmlns:r="http://schemas.openxmlformats.org/officeDocument/2006/relationships" id="256" r:id="Rc7449aa522014c60"/>
    <p:sldId xmlns:r="http://schemas.openxmlformats.org/officeDocument/2006/relationships" id="257" r:id="R6e50385e63b445c6"/>
    <p:sldId xmlns:r="http://schemas.openxmlformats.org/officeDocument/2006/relationships" id="258" r:id="Rfd8e2bcefd3b42f1"/>
    <p:sldId xmlns:r="http://schemas.openxmlformats.org/officeDocument/2006/relationships" id="259" r:id="R222a3dba785f4871"/>
    <p:sldId xmlns:r="http://schemas.openxmlformats.org/officeDocument/2006/relationships" id="260" r:id="Rf68972166c824977"/>
    <p:sldId xmlns:r="http://schemas.openxmlformats.org/officeDocument/2006/relationships" id="261" r:id="R1b071528c0e9423c"/>
    <p:sldId xmlns:r="http://schemas.openxmlformats.org/officeDocument/2006/relationships" id="262" r:id="Rad33cd5ef13d4788"/>
    <p:sldId xmlns:r="http://schemas.openxmlformats.org/officeDocument/2006/relationships" id="263" r:id="R1e5b4fd4408041ff"/>
    <p:sldId xmlns:r="http://schemas.openxmlformats.org/officeDocument/2006/relationships" id="264" r:id="R65d4a50270cf4fbc"/>
    <p:sldId xmlns:r="http://schemas.openxmlformats.org/officeDocument/2006/relationships" id="265" r:id="R78928dbf047a4b41"/>
    <p:sldId xmlns:r="http://schemas.openxmlformats.org/officeDocument/2006/relationships" id="266" r:id="R41ced165f9ec4127"/>
    <p:sldId xmlns:r="http://schemas.openxmlformats.org/officeDocument/2006/relationships" id="267" r:id="R952e85dfcf0c4c25"/>
    <p:sldId xmlns:r="http://schemas.openxmlformats.org/officeDocument/2006/relationships" id="268" r:id="R21abdad5491e4c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2a22396d544058" /><Relationship Type="http://schemas.openxmlformats.org/officeDocument/2006/relationships/slideMaster" Target="/ppt/slideMasters/slideMaster1.xml" Id="R0102eac75acc4c17" /><Relationship Type="http://schemas.openxmlformats.org/officeDocument/2006/relationships/notesMaster" Target="/ppt/notesMasters/notesMaster1.xml" Id="R64619b2263e34f41" /><Relationship Type="http://schemas.openxmlformats.org/officeDocument/2006/relationships/presProps" Target="/ppt/presProps.xml" Id="R18869ee7359e4b24" /><Relationship Type="http://schemas.openxmlformats.org/officeDocument/2006/relationships/viewProps" Target="/ppt/viewProps.xml" Id="R01cddda6dd1b4ecd" /><Relationship Type="http://schemas.openxmlformats.org/officeDocument/2006/relationships/tableStyles" Target="/ppt/tableStyles.xml" Id="R81771f6eef3046ef" /><Relationship Type="http://schemas.openxmlformats.org/officeDocument/2006/relationships/slide" Target="/ppt/slides/slide1.xml" Id="Rc7449aa522014c60" /><Relationship Type="http://schemas.openxmlformats.org/officeDocument/2006/relationships/slide" Target="/ppt/slides/slide2.xml" Id="R6e50385e63b445c6" /><Relationship Type="http://schemas.openxmlformats.org/officeDocument/2006/relationships/slide" Target="/ppt/slides/slide3.xml" Id="Rfd8e2bcefd3b42f1" /><Relationship Type="http://schemas.openxmlformats.org/officeDocument/2006/relationships/slide" Target="/ppt/slides/slide4.xml" Id="R222a3dba785f4871" /><Relationship Type="http://schemas.openxmlformats.org/officeDocument/2006/relationships/slide" Target="/ppt/slides/slide5.xml" Id="Rf68972166c824977" /><Relationship Type="http://schemas.openxmlformats.org/officeDocument/2006/relationships/slide" Target="/ppt/slides/slide6.xml" Id="R1b071528c0e9423c" /><Relationship Type="http://schemas.openxmlformats.org/officeDocument/2006/relationships/slide" Target="/ppt/slides/slide7.xml" Id="Rad33cd5ef13d4788" /><Relationship Type="http://schemas.openxmlformats.org/officeDocument/2006/relationships/slide" Target="/ppt/slides/slide8.xml" Id="R1e5b4fd4408041ff" /><Relationship Type="http://schemas.openxmlformats.org/officeDocument/2006/relationships/slide" Target="/ppt/slides/slide9.xml" Id="R65d4a50270cf4fbc" /><Relationship Type="http://schemas.openxmlformats.org/officeDocument/2006/relationships/slide" Target="/ppt/slides/slide10.xml" Id="R78928dbf047a4b41" /><Relationship Type="http://schemas.openxmlformats.org/officeDocument/2006/relationships/slide" Target="/ppt/slides/slide11.xml" Id="R41ced165f9ec4127" /><Relationship Type="http://schemas.openxmlformats.org/officeDocument/2006/relationships/slide" Target="/ppt/slides/slide12.xml" Id="R952e85dfcf0c4c25" /><Relationship Type="http://schemas.openxmlformats.org/officeDocument/2006/relationships/slide" Target="/ppt/slides/slide13.xml" Id="R21abdad5491e4c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e47846d7594a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15dcdb939d4905" /><Relationship Type="http://schemas.openxmlformats.org/officeDocument/2006/relationships/notesMaster" Target="/ppt/notesMasters/notesMaster1.xml" Id="R99d51843b4b34f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06d58b942e4631" /><Relationship Type="http://schemas.openxmlformats.org/officeDocument/2006/relationships/notesMaster" Target="/ppt/notesMasters/notesMaster1.xml" Id="R5bd15afe22bb4e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64f9e1483a4f8f" /><Relationship Type="http://schemas.openxmlformats.org/officeDocument/2006/relationships/notesMaster" Target="/ppt/notesMasters/notesMaster1.xml" Id="Rb8c9c5ad909f4a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f35e1a55e24357" /><Relationship Type="http://schemas.openxmlformats.org/officeDocument/2006/relationships/notesMaster" Target="/ppt/notesMasters/notesMaster1.xml" Id="Rf63c6358ce2848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6bbf874fde4cd2" /><Relationship Type="http://schemas.openxmlformats.org/officeDocument/2006/relationships/notesMaster" Target="/ppt/notesMasters/notesMaster1.xml" Id="Rca45f56c56e944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a40359606e470a" /><Relationship Type="http://schemas.openxmlformats.org/officeDocument/2006/relationships/notesMaster" Target="/ppt/notesMasters/notesMaster1.xml" Id="R75970373f10b49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cb1d085d494712" /><Relationship Type="http://schemas.openxmlformats.org/officeDocument/2006/relationships/notesMaster" Target="/ppt/notesMasters/notesMaster1.xml" Id="R8953cf84dcfb47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a24af90cc7443d" /><Relationship Type="http://schemas.openxmlformats.org/officeDocument/2006/relationships/notesMaster" Target="/ppt/notesMasters/notesMaster1.xml" Id="R30ba90a931994a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f783b4b3d24677" /><Relationship Type="http://schemas.openxmlformats.org/officeDocument/2006/relationships/notesMaster" Target="/ppt/notesMasters/notesMaster1.xml" Id="Rde8e6853d23844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956812a3654ddd" /><Relationship Type="http://schemas.openxmlformats.org/officeDocument/2006/relationships/notesMaster" Target="/ppt/notesMasters/notesMaster1.xml" Id="R398a8bc0b6d743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0c14583b4b4780" /><Relationship Type="http://schemas.openxmlformats.org/officeDocument/2006/relationships/notesMaster" Target="/ppt/notesMasters/notesMaster1.xml" Id="R3b3f2fb6ae254f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7f201550e14274" /><Relationship Type="http://schemas.openxmlformats.org/officeDocument/2006/relationships/notesMaster" Target="/ppt/notesMasters/notesMaster1.xml" Id="R01439180c4ae47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c6e3061dbd44f1" /><Relationship Type="http://schemas.openxmlformats.org/officeDocument/2006/relationships/notesMaster" Target="/ppt/notesMasters/notesMaster1.xml" Id="Rc8d92634173c46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README.md; docs/sources/lct2026-task9-2026-09-15/task-9-specification.pdf.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README.md; docs/architecture.md; docs/decisions/2026-09-24_training-loop.md.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Личные данные намеренно не добавлены. Используйте только зарегистрированные сведения после согласия участников.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README.md; docs/offer-session-protocol.md; backend/tests/test_release_semantic_safety.py.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docs/architecture.md; docs/api.md; docs/human-training-guide.md.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AGENTS.md; docs/architecture.md; docs/offer-session-protocol.md.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изображений: реальные локальные экраны template-only стенда, 2026-09-27. Результат 26 относится к конкретному тестовому пути и не является метрикой эффективности обучения.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docs/plans/14_reach-90-plus.md; docs/release/template-stand-runbook.md. Внешняя публикация и стенд остаются действиями владельца.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README.md; docs/offer-session-protocol.md; backend/tests/test_release_semantic_safety.py.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docs/architecture.md; docs/api.md; docs/human-training-guide.md.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README.md; docs/offer-session-protocol.md; backend/tests/test_release_semantic_safety.py.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docs/architecture.md; docs/api.md; docs/human-training-guide.md.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README.md; docs/offer-session-protocol.md; backend/tests/test_release_semantic_safety.py.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23a1c3423467c" /><Relationship Type="http://schemas.openxmlformats.org/officeDocument/2006/relationships/image" Target="/ppt/media/image2.png" Id="R8a55a1591b9d42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f93f7740b4e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bc0729a7746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fdaa76f9a4a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30a3b1af845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b4e777b02440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abbee676847b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bfc8c8bf6463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2b1cf481a453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c76e3fed2e466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d365f3a2d46f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c0780f33994e8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20b44ae9d4b8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6773f0221d446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f2cda4197476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0ee0621ba43d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51f01b95a452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05f5678cb4cf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c8f92677a490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8b330625e4b5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eebc53b34c4ad9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25726b4764ac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ac8dd4dd74b01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8a55a1591b9d42d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220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24ec7149aeb843d6" /><Relationship Type="http://schemas.openxmlformats.org/officeDocument/2006/relationships/theme" Target="/ppt/slideMasters/theme/theme2.xml" Id="R2d33d5d2e6ce4eef" /><Relationship Type="http://schemas.openxmlformats.org/officeDocument/2006/relationships/slideLayout" Target="/ppt/slideLayouts/slideLayout1.xml" Id="Rea9b67bae1ba4da8" /><Relationship Type="http://schemas.openxmlformats.org/officeDocument/2006/relationships/slideLayout" Target="/ppt/slideLayouts/slideLayout2.xml" Id="R8b74ab9bb08342bc" /><Relationship Type="http://schemas.openxmlformats.org/officeDocument/2006/relationships/slideLayout" Target="/ppt/slideLayouts/slideLayout3.xml" Id="R8360b56a80c745ba" /><Relationship Type="http://schemas.openxmlformats.org/officeDocument/2006/relationships/slideLayout" Target="/ppt/slideLayouts/slideLayout4.xml" Id="R6518440addaa4d74" /><Relationship Type="http://schemas.openxmlformats.org/officeDocument/2006/relationships/slideLayout" Target="/ppt/slideLayouts/slideLayout5.xml" Id="R14b7ddbe93bb4eaa" /><Relationship Type="http://schemas.openxmlformats.org/officeDocument/2006/relationships/slideLayout" Target="/ppt/slideLayouts/slideLayout6.xml" Id="R649781cb926f4e4f" /><Relationship Type="http://schemas.openxmlformats.org/officeDocument/2006/relationships/slideLayout" Target="/ppt/slideLayouts/slideLayout7.xml" Id="Rab0ace2024b044d5" /><Relationship Type="http://schemas.openxmlformats.org/officeDocument/2006/relationships/slideLayout" Target="/ppt/slideLayouts/slideLayout8.xml" Id="R8f51b12c2fe54541" /><Relationship Type="http://schemas.openxmlformats.org/officeDocument/2006/relationships/slideLayout" Target="/ppt/slideLayouts/slideLayout9.xml" Id="R50ff457aa9544d8f" /><Relationship Type="http://schemas.openxmlformats.org/officeDocument/2006/relationships/slideLayout" Target="/ppt/slideLayouts/slideLayout10.xml" Id="R22b55e486be74b5b" /><Relationship Type="http://schemas.openxmlformats.org/officeDocument/2006/relationships/slideLayout" Target="/ppt/slideLayouts/slideLayout11.xml" Id="Rc0fce45c80614696" /><Relationship Type="http://schemas.openxmlformats.org/officeDocument/2006/relationships/slideLayout" Target="/ppt/slideLayouts/slideLayout12.xml" Id="Rc3fa3a5a77664cba" /><Relationship Type="http://schemas.openxmlformats.org/officeDocument/2006/relationships/slideLayout" Target="/ppt/slideLayouts/slideLayout13.xml" Id="R1a9007d3f5414523" /><Relationship Type="http://schemas.openxmlformats.org/officeDocument/2006/relationships/slideLayout" Target="/ppt/slideLayouts/slideLayout14.xml" Id="R5965205a922f4a52" /><Relationship Type="http://schemas.openxmlformats.org/officeDocument/2006/relationships/slideLayout" Target="/ppt/slideLayouts/slideLayout15.xml" Id="R55f2be7a5ae44f96" /><Relationship Type="http://schemas.openxmlformats.org/officeDocument/2006/relationships/slideLayout" Target="/ppt/slideLayouts/slideLayout16.xml" Id="R75adc3d9288e4fd2" /><Relationship Type="http://schemas.openxmlformats.org/officeDocument/2006/relationships/slideLayout" Target="/ppt/slideLayouts/slideLayout17.xml" Id="R071383f3a0544b02" /><Relationship Type="http://schemas.openxmlformats.org/officeDocument/2006/relationships/slideLayout" Target="/ppt/slideLayouts/slideLayout18.xml" Id="Rc0f633322fb940f6" /><Relationship Type="http://schemas.openxmlformats.org/officeDocument/2006/relationships/slideLayout" Target="/ppt/slideLayouts/slideLayout19.xml" Id="R06905bffe7704dd4" /><Relationship Type="http://schemas.openxmlformats.org/officeDocument/2006/relationships/slideLayout" Target="/ppt/slideLayouts/slideLayout20.xml" Id="R3e9f9f80d3134460" /><Relationship Type="http://schemas.openxmlformats.org/officeDocument/2006/relationships/slideLayout" Target="/ppt/slideLayouts/slideLayout21.xml" Id="R5ce6a80ec60f4afb" /><Relationship Type="http://schemas.openxmlformats.org/officeDocument/2006/relationships/slideLayout" Target="/ppt/slideLayouts/slideLayout22.xml" Id="R526a7057419949d4" /><Relationship Type="http://schemas.openxmlformats.org/officeDocument/2006/relationships/slideLayout" Target="/ppt/slideLayouts/slideLayout23.xml" Id="Rfc3f2f5e3e7e4521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4ec7149aeb843d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9b67bae1ba4da8"/>
    <p:sldLayoutId xmlns:r="http://schemas.openxmlformats.org/officeDocument/2006/relationships" id="2147483650" r:id="R8b74ab9bb08342bc"/>
    <p:sldLayoutId xmlns:r="http://schemas.openxmlformats.org/officeDocument/2006/relationships" id="2147483651" r:id="R8360b56a80c745ba"/>
    <p:sldLayoutId xmlns:r="http://schemas.openxmlformats.org/officeDocument/2006/relationships" id="2147483652" r:id="R6518440addaa4d74"/>
    <p:sldLayoutId xmlns:r="http://schemas.openxmlformats.org/officeDocument/2006/relationships" id="2147483653" r:id="R14b7ddbe93bb4eaa"/>
    <p:sldLayoutId xmlns:r="http://schemas.openxmlformats.org/officeDocument/2006/relationships" id="2147483654" r:id="R649781cb926f4e4f"/>
    <p:sldLayoutId xmlns:r="http://schemas.openxmlformats.org/officeDocument/2006/relationships" id="2147483655" r:id="Rab0ace2024b044d5"/>
    <p:sldLayoutId xmlns:r="http://schemas.openxmlformats.org/officeDocument/2006/relationships" id="2147483656" r:id="R8f51b12c2fe54541"/>
    <p:sldLayoutId xmlns:r="http://schemas.openxmlformats.org/officeDocument/2006/relationships" id="2147483657" r:id="R50ff457aa9544d8f"/>
    <p:sldLayoutId xmlns:r="http://schemas.openxmlformats.org/officeDocument/2006/relationships" id="2147483658" r:id="R22b55e486be74b5b"/>
    <p:sldLayoutId xmlns:r="http://schemas.openxmlformats.org/officeDocument/2006/relationships" id="2147483659" r:id="Rc0fce45c80614696"/>
    <p:sldLayoutId xmlns:r="http://schemas.openxmlformats.org/officeDocument/2006/relationships" id="2147483660" r:id="Rc3fa3a5a77664cba"/>
    <p:sldLayoutId xmlns:r="http://schemas.openxmlformats.org/officeDocument/2006/relationships" id="2147483661" r:id="R1a9007d3f5414523"/>
    <p:sldLayoutId xmlns:r="http://schemas.openxmlformats.org/officeDocument/2006/relationships" id="2147483662" r:id="R5965205a922f4a52"/>
    <p:sldLayoutId xmlns:r="http://schemas.openxmlformats.org/officeDocument/2006/relationships" id="2147483663" r:id="R55f2be7a5ae44f96"/>
    <p:sldLayoutId xmlns:r="http://schemas.openxmlformats.org/officeDocument/2006/relationships" id="2147483664" r:id="R75adc3d9288e4fd2"/>
    <p:sldLayoutId xmlns:r="http://schemas.openxmlformats.org/officeDocument/2006/relationships" id="2147483665" r:id="R071383f3a0544b02"/>
    <p:sldLayoutId xmlns:r="http://schemas.openxmlformats.org/officeDocument/2006/relationships" id="2147483666" r:id="Rc0f633322fb940f6"/>
    <p:sldLayoutId xmlns:r="http://schemas.openxmlformats.org/officeDocument/2006/relationships" id="2147483667" r:id="R06905bffe7704dd4"/>
    <p:sldLayoutId xmlns:r="http://schemas.openxmlformats.org/officeDocument/2006/relationships" id="2147483668" r:id="R3e9f9f80d3134460"/>
    <p:sldLayoutId xmlns:r="http://schemas.openxmlformats.org/officeDocument/2006/relationships" id="2147483669" r:id="R5ce6a80ec60f4afb"/>
    <p:sldLayoutId xmlns:r="http://schemas.openxmlformats.org/officeDocument/2006/relationships" id="2147483670" r:id="R526a7057419949d4"/>
    <p:sldLayoutId xmlns:r="http://schemas.openxmlformats.org/officeDocument/2006/relationships" id="2147483671" r:id="Rfc3f2f5e3e7e4521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e1eb92a204b05" /><Relationship Type="http://schemas.openxmlformats.org/officeDocument/2006/relationships/image" Target="/ppt/media/image3.png" Id="Ra0295d1641274517" /><Relationship Type="http://schemas.openxmlformats.org/officeDocument/2006/relationships/notesSlide" Target="/ppt/notesSlides/notesSlide1.xml" Id="Rcfc9af054dbd44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b06dac661c4f51" /><Relationship Type="http://schemas.openxmlformats.org/officeDocument/2006/relationships/image" Target="/ppt/media/image4.png" Id="R012a784d28a04d8a" /><Relationship Type="http://schemas.openxmlformats.org/officeDocument/2006/relationships/image" Target="/ppt/media/image5.png" Id="Rd6523455769e48e9" /><Relationship Type="http://schemas.openxmlformats.org/officeDocument/2006/relationships/image" Target="/ppt/media/image6.png" Id="Rb99eb1853df54888" /><Relationship Type="http://schemas.openxmlformats.org/officeDocument/2006/relationships/notesSlide" Target="/ppt/notesSlides/notesSlide2.xml" Id="R00b04a0af2b944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fe5f8e9ad794a71" /><Relationship Type="http://schemas.openxmlformats.org/officeDocument/2006/relationships/image" Target="/ppt/media/image.png" Id="Rb2922941c54c4401" /><Relationship Type="http://schemas.openxmlformats.org/officeDocument/2006/relationships/image" Target="/ppt/media/image.jpeg" Id="R353e3398d57344be" /><Relationship Type="http://schemas.openxmlformats.org/officeDocument/2006/relationships/image" Target="/ppt/media/image2.jpeg" Id="Rde80015f239e440a" /><Relationship Type="http://schemas.openxmlformats.org/officeDocument/2006/relationships/image" Target="/ppt/media/image7.png" Id="R716db401bb3240b7" /><Relationship Type="http://schemas.openxmlformats.org/officeDocument/2006/relationships/image" Target="/ppt/media/image3.jpeg" Id="R2a9785817516444c" /><Relationship Type="http://schemas.openxmlformats.org/officeDocument/2006/relationships/image" Target="/ppt/media/image4.jpeg" Id="R14ded4d616da409f" /><Relationship Type="http://schemas.openxmlformats.org/officeDocument/2006/relationships/notesSlide" Target="/ppt/notesSlides/notesSlide3.xml" Id="R2557fceb39e64f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86f4258bffc4e71" /><Relationship Type="http://schemas.openxmlformats.org/officeDocument/2006/relationships/image" Target="/ppt/media/image8.png" Id="R5c9e084e3e354ef0" /><Relationship Type="http://schemas.openxmlformats.org/officeDocument/2006/relationships/notesSlide" Target="/ppt/notesSlides/notesSlide4.xml" Id="R4d62185b687641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89f43e3ed544fb1" /><Relationship Type="http://schemas.openxmlformats.org/officeDocument/2006/relationships/image" Target="/ppt/media/image.png" Id="Rae3150815f7948fa" /><Relationship Type="http://schemas.openxmlformats.org/officeDocument/2006/relationships/notesSlide" Target="/ppt/notesSlides/notesSlide5.xml" Id="Rf3b79206713944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c50dc5c37c94c58" /><Relationship Type="http://schemas.openxmlformats.org/officeDocument/2006/relationships/image" Target="/ppt/media/image4.png" Id="R1aa41d8a88c1403c" /><Relationship Type="http://schemas.openxmlformats.org/officeDocument/2006/relationships/notesSlide" Target="/ppt/notesSlides/notesSlide6.xml" Id="R53e9c5826d5a44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e91a9d17e1e449a4" /><Relationship Type="http://schemas.openxmlformats.org/officeDocument/2006/relationships/image" Target="/ppt/media/image4.png" Id="R9df54f19495f4523" /><Relationship Type="http://schemas.openxmlformats.org/officeDocument/2006/relationships/image" Target="/ppt/media/image5.jpeg" Id="R5549cb98f9c74fc8" /><Relationship Type="http://schemas.openxmlformats.org/officeDocument/2006/relationships/image" Target="/ppt/media/image6.jpeg" Id="R62b97a4442444ce0" /><Relationship Type="http://schemas.openxmlformats.org/officeDocument/2006/relationships/notesSlide" Target="/ppt/notesSlides/notesSlide7.xml" Id="R71e3ede79eb348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d926f6f7a614ccc" /><Relationship Type="http://schemas.openxmlformats.org/officeDocument/2006/relationships/image" Target="/ppt/media/image4.png" Id="R0cd4dfa34b514e5c" /><Relationship Type="http://schemas.openxmlformats.org/officeDocument/2006/relationships/notesSlide" Target="/ppt/notesSlides/notesSlide8.xml" Id="Rb94416c22e4641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efd3344def430c" /><Relationship Type="http://schemas.openxmlformats.org/officeDocument/2006/relationships/image" Target="/ppt/media/image8.png" Id="R506943aec8fb48da" /><Relationship Type="http://schemas.openxmlformats.org/officeDocument/2006/relationships/notesSlide" Target="/ppt/notesSlides/notesSlide9.xml" Id="R2a06bbc7d7e74a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492cabbc44849a9" /><Relationship Type="http://schemas.openxmlformats.org/officeDocument/2006/relationships/image" Target="/ppt/media/image.png" Id="Rf9830854dfa943dd" /><Relationship Type="http://schemas.openxmlformats.org/officeDocument/2006/relationships/notesSlide" Target="/ppt/notesSlides/notesSlide10.xml" Id="R5dbfc9c0e49640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929e1b00b9f4775" /><Relationship Type="http://schemas.openxmlformats.org/officeDocument/2006/relationships/image" Target="/ppt/media/image8.png" Id="Rce1ccacbbae54e1c" /><Relationship Type="http://schemas.openxmlformats.org/officeDocument/2006/relationships/notesSlide" Target="/ppt/notesSlides/notesSlide11.xml" Id="R400fa8a2a0bc4c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d1cda2c68d64583" /><Relationship Type="http://schemas.openxmlformats.org/officeDocument/2006/relationships/image" Target="/ppt/media/image.png" Id="R34c96d3e52e54722" /><Relationship Type="http://schemas.openxmlformats.org/officeDocument/2006/relationships/notesSlide" Target="/ppt/notesSlides/notesSlide12.xml" Id="R577f2435f92443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0000e4764d145f4" /><Relationship Type="http://schemas.openxmlformats.org/officeDocument/2006/relationships/image" Target="/ppt/media/image8.png" Id="R215201b67a9f4b69" /><Relationship Type="http://schemas.openxmlformats.org/officeDocument/2006/relationships/notesSlide" Target="/ppt/notesSlides/notesSlide13.xml" Id="R8a57ce239a3942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r>
              <a:t>ALOLA</a:t>
            </a:r>
            <a:endParaRPr sz="4800"/>
          </a:p>
          <a:p xmlns:a="http://schemas.openxmlformats.org/drawingml/2006/main">
            <a:pPr marL="268288" indent="0">
              <a:buNone/>
            </a:pPr>
            <a:r>
              <a:t>ТРЕНАЖЁР ПЕРЕГОВОРОВ</a:t>
            </a:r>
            <a:endParaRPr sz="4800"/>
          </a:p>
        </p:txBody>
      </p:sp>
      <p:pic>
        <p:nvPicPr>
          <p:cNvPr id="8" name="Рисунок 3"/>
          <p:cNvPicPr>
            <a:picLocks xmlns:a="http://schemas.openxmlformats.org/drawingml/2006/main" noChangeAspect="1"/>
          </p:cNvPicPr>
          <p:nvPr>
            <p:ph type="pic" idx="11"/>
          </p:nvPr>
        </p:nvPicPr>
        <p:blipFill>
          <a:blip xmlns:r="http://schemas.openxmlformats.org/officeDocument/2006/relationships" xmlns:a="http://schemas.openxmlformats.org/drawingml/2006/main" r:embed="Ra0295d164127451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05181" y="329756"/>
            <a:ext cx="5193316" cy="1082612"/>
          </a:xfrm>
          <a:prstGeom xmlns:a="http://schemas.openxmlformats.org/drawingml/2006/main" prst="rect">
            <a:avLst/>
          </a:prstGeom>
        </p:spPr>
      </p:pic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r>
              <a:t>Задача № 9 · API-first тренажёр для людей и переговорных агентов</a:t>
            </a: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2a784d28a04d8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1F324-5C59-4C4C-8423-DDF98826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КОМАНДА И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18171-1D21-4073-BBFF-75213ED1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76325"/>
            <a:ext cx="544830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3FA"/>
          </a:solidFill>
          <a:ln xmlns:a="http://schemas.openxmlformats.org/drawingml/2006/main" w="11430">
            <a:solidFill>
              <a:srgbClr val="D9C8E3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23455769e48e9"/>
          <a:srcRect xmlns:a="http://schemas.openxmlformats.org/drawingml/2006/main" l="0" t="396" r="0" b="3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333500"/>
            <a:ext cx="2305050" cy="2857500"/>
          </a:xfrm>
          <a:prstGeom xmlns:a="http://schemas.openxmlformats.org/drawingml/2006/main" prst="roundRect">
            <a:avLst>
              <a:gd name="adj" fmla="val 6612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eb1853df54888"/>
          <a:srcRect xmlns:a="http://schemas.openxmlformats.org/drawingml/2006/main" l="0" t="396" r="0" b="3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19450" y="1333500"/>
            <a:ext cx="2305050" cy="2857500"/>
          </a:xfrm>
          <a:prstGeom xmlns:a="http://schemas.openxmlformats.org/drawingml/2006/main" prst="roundRect">
            <a:avLst>
              <a:gd name="adj" fmla="val 661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A00FA-F707-4134-AFCF-D729F207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230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Шмелева Ольга</a:t>
            </a:r>
          </a:p>
          <a:p xmlns:a="http://schemas.openxmlformats.org/drawingml/2006/main">
            <a:pPr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Васильевна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246EB-7C4E-470A-A643-EF741401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230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5964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D5964"/>
                </a:solidFill>
                <a:latin typeface="Montserrat"/>
                <a:ea typeface="Montserrat"/>
                <a:cs typeface="Montserrat"/>
              </a:rPr>
              <a:t>преподаватель ВАВТ</a:t>
            </a:r>
          </a:p>
          <a:p xmlns:a="http://schemas.openxmlformats.org/drawingml/2006/main">
            <a:pPr>
              <a:defRPr sz="1050" b="0">
                <a:solidFill>
                  <a:srgbClr val="5D5964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D5964"/>
                </a:solidFill>
                <a:latin typeface="Montserrat"/>
                <a:ea typeface="Montserrat"/>
                <a:cs typeface="Montserrat"/>
              </a:rPr>
              <a:t>деловой английский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B0A07-1DE1-499B-91D9-C1FA007E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62450"/>
            <a:ext cx="230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Головатюк Виталий</a:t>
            </a:r>
          </a:p>
          <a:p xmlns:a="http://schemas.openxmlformats.org/drawingml/2006/main">
            <a:pPr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Владмирович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E5ED7-F381-4747-B380-70262F32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53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5964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5D5964"/>
                </a:solidFill>
                <a:latin typeface="Montserrat"/>
                <a:ea typeface="Montserrat"/>
                <a:cs typeface="Montserrat"/>
              </a:rPr>
              <a:t>предприниматель</a:t>
            </a:r>
          </a:p>
          <a:p xmlns:a="http://schemas.openxmlformats.org/drawingml/2006/main">
            <a:pPr>
              <a:defRPr sz="975" b="0">
                <a:solidFill>
                  <a:srgbClr val="5D5964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5D5964"/>
                </a:solidFill>
                <a:latin typeface="Montserrat"/>
                <a:ea typeface="Montserrat"/>
                <a:cs typeface="Montserrat"/>
              </a:rPr>
              <a:t>кандидат юридических наук</a:t>
            </a:r>
          </a:p>
          <a:p xmlns:a="http://schemas.openxmlformats.org/drawingml/2006/main">
            <a:pPr>
              <a:defRPr sz="975" b="0">
                <a:solidFill>
                  <a:srgbClr val="5D5964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5D5964"/>
                </a:solidFill>
                <a:latin typeface="Montserrat"/>
                <a:ea typeface="Montserrat"/>
                <a:cs typeface="Montserrat"/>
              </a:rPr>
              <a:t>ветеран МВД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351D4-82EB-4CF8-9B98-0A111AF3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1920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ALOLA — AI-FIRST ТРЕНАЖЁР ПЕРЕГОВОРОВ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DE8E4-51CE-4732-BA11-EA6FD385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3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Человек или внешний агент ведёт переговоры через единый Player API. Детерминированный движок контролирует экономику, ограничения и подтверждение сделки. LLM отвечает за естественные формулировки и итоговый разбор.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4DAD8-A94C-499C-9296-9A10DA80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ЧТО ОТЛИЧАЕТ РЕШЕНИЕ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23059-B848-4D59-A6F3-0919F4A2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254317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C8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C649B-9D4A-4497-B446-E0BFEEDC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38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Контроль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5E8AB-6507-4E5F-90BC-29D177A6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86250"/>
            <a:ext cx="22002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Parser → validator → engine. Модель не может изменить utility, hard constraints или факт подтверждения.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74154-B373-4F81-B4D1-0F693C48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667125"/>
            <a:ext cx="254317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C8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C41DC-5AFD-46AE-A0C6-6DDB2E28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838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Обучение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E6779-221F-447A-8065-CEFDEFA6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286250"/>
            <a:ext cx="22002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После завершённой сессии: экономика, процесс и коммуникация — с доказательствами из диалога.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5F9F6-BF8F-429C-860A-D6E79416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4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1451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2D1451"/>
                </a:solidFill>
                <a:latin typeface="Montserrat"/>
                <a:ea typeface="Montserrat"/>
                <a:cs typeface="Montserrat"/>
              </a:rPr>
              <a:t>Проверяем переговорный навык, а не умение угадывать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2922941c54c440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394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8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Движок и API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7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Backend</a:t>
            </a:r>
          </a:p>
        </p:txBody>
      </p:sp>
      <p:sp>
        <p:nvSpPr>
          <p:cNvPr id="59" name="Скругленный прямоугольник 58">
            <a:extLst xmlns:a="http://schemas.openxmlformats.org/drawingml/2006/main"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12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6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Demo UX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6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5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Frontend</a:t>
            </a:r>
          </a:p>
        </p:txBody>
      </p:sp>
      <p:sp>
        <p:nvSpPr>
          <p:cNvPr id="62" name="Скругленный прямоугольник 61">
            <a:extLst xmlns:a="http://schemas.openxmlformats.org/drawingml/2006/main"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031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5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Регрессии и релиз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6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4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QA / Safety</a:t>
            </a:r>
          </a:p>
        </p:txBody>
      </p:sp>
      <p:sp>
        <p:nvSpPr>
          <p:cNvPr id="65" name="Скругленный прямоугольник 64">
            <a:extLst xmlns:a="http://schemas.openxmlformats.org/drawingml/2006/main"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349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3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Стенд и защита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6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2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Stand / Pitch</a:t>
            </a: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pic>
        <p:nvPicPr>
          <p:cNvPr id="88" name="Рисунок 1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353e3398d57344b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81406" y="1816037"/>
            <a:ext cx="1722596" cy="1552861"/>
          </a:xfrm>
          <a:prstGeom xmlns:a="http://schemas.openxmlformats.org/drawingml/2006/main" prst="rect">
            <a:avLst/>
          </a:prstGeom>
        </p:spPr>
      </p:pic>
      <p:pic>
        <p:nvPicPr>
          <p:cNvPr id="89" name="Рисунок 2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de80015f239e440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886456" y="1826514"/>
            <a:ext cx="1722596" cy="1542383"/>
          </a:xfrm>
          <a:prstGeom xmlns:a="http://schemas.openxmlformats.org/drawingml/2006/main" prst="rect">
            <a:avLst/>
          </a:prstGeom>
        </p:spPr>
      </p:pic>
      <p:pic>
        <p:nvPicPr>
          <p:cNvPr id="90" name="Рисунок 3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716db401bb3240b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191792" y="1809274"/>
            <a:ext cx="1722596" cy="1559719"/>
          </a:xfrm>
          <a:prstGeom xmlns:a="http://schemas.openxmlformats.org/drawingml/2006/main" prst="rect">
            <a:avLst/>
          </a:prstGeom>
        </p:spPr>
      </p:pic>
      <p:pic>
        <p:nvPicPr>
          <p:cNvPr id="91" name="Рисунок 4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2a9785817516444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7520178" y="1809274"/>
            <a:ext cx="1722596" cy="1559719"/>
          </a:xfrm>
          <a:prstGeom xmlns:a="http://schemas.openxmlformats.org/drawingml/2006/main" prst="rect">
            <a:avLst/>
          </a:prstGeom>
        </p:spPr>
      </p:pic>
      <p:pic>
        <p:nvPicPr>
          <p:cNvPr id="92" name="Рисунок 5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14ded4d616da409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802463" y="1809274"/>
            <a:ext cx="1722596" cy="1559719"/>
          </a:xfrm>
          <a:prstGeom xmlns:a="http://schemas.openxmlformats.org/drawingml/2006/main" prst="rect">
            <a:avLst/>
          </a:prstGeom>
        </p:spPr>
      </p:pic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КОМАНДА: РОЛИ И ЗОНЫ ОТВЕТСТВЕННОСТИ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18360" y="4250028"/>
            <a:ext cx="1894354" cy="162461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Методика и кейсы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9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Продукт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c9e084e3e354ef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ПОЧЕМУ ЭТА ЗАДАЧА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4425822" cy="9342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/>
            </a:pPr>
            <a:r>
              <a:rPr sz="1350">
                <a:solidFill>
                  <a:schemeClr val="tx1"/>
                </a:solidFill>
              </a:rPr>
              <a:t>Заученные реплики не учат принимать решения под ограничениями. Нужен безопасный цикл: ход → проверка → последствие → разбор.</a:t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Проблема</a:t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7318749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/>
            </a:pPr>
            <a:r>
              <a:rPr sz="1350">
                <a:solidFill>
                  <a:schemeClr val="tx1"/>
                </a:solidFill>
              </a:rPr>
              <a:t>Свободный текст нельзя превращать в обязательство без подтверждения полного предложения. Парсер предлагает действие. Движок проверяет и фиксирует его.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Главный инженерный риск</a:t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4945565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/>
            </a:pPr>
            <a:r>
              <a:rPr sz="1350">
                <a:solidFill>
                  <a:schemeClr val="tx1"/>
                </a:solidFill>
              </a:rPr>
              <a:t>Задача соединяет обучение людей и сравнимую проверку переговорных агентов через один Player API.</a:t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задача № 9</a:t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7E9A87F2-F29F-4C41-A0C6-56C9DA7D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F54E40E4-3F38-442A-B6F0-CA6CF81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14FF40E2-7A69-4236-ADEE-954EAEA3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e3150815f7948f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Версионируемые сценарии и роли</a:t>
            </a:r>
          </a:p>
          <a:p xmlns:a="http://schemas.openxmlformats.org/drawingml/2006/main">
            <a:pPr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Natural language → typed action</a:t>
            </a:r>
          </a:p>
          <a:p xmlns:a="http://schemas.openxmlformats.org/drawingml/2006/main">
            <a:pPr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Детерминированная валидация сделки</a:t>
            </a:r>
          </a:p>
          <a:p xmlns:a="http://schemas.openxmlformats.org/drawingml/2006/main">
            <a:pPr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Raw transcript + event log</a:t>
            </a:r>
          </a:p>
          <a:p xmlns:a="http://schemas.openxmlformats.org/drawingml/2006/main">
            <a:pPr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Replay, rewind и branching</a:t>
            </a:r>
          </a:p>
          <a:p xmlns:a="http://schemas.openxmlformats.org/drawingml/2006/main">
            <a:pPr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Один API для людей и агентов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Корпоративное обучение продаж и закупок</a:t>
            </a: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On-premise режим для закрытых данных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Сравнение команд и внешних агентов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Быстрое добавление отраслевых кейсов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Интеграция через API и CLI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Шаблонный режим без внешних моделей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Ценность и внедрение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aa41d8a88c1403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1366423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2377094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3387765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4398436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5409107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366423"/>
            <a:ext cx="5389562" cy="4834352"/>
          </a:xfrm>
          <a:prstGeom xmlns:a="http://schemas.openxmlformats.org/drawingml/2006/main" prst="roundRect">
            <a:avLst>
              <a:gd name="adj" fmla="val 291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23887" y="1732103"/>
            <a:ext cx="4734175" cy="4139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ЧЕЛОВЕК / ВНЕШНИЙ АГЕНТ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↓ natural language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PLAYER API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↓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PARSER → VALIDATOR → ENGINE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↓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EVENT LOG → REVIEW</a:t>
            </a:r>
            <a:endParaRPr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172730" y="1445505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1 · ScenarioVersion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Неизменяемая authored truth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172730" y="247287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2 · Observation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Проекция без hidden state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172730" y="348592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3 · Offer revision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Полный typed пакет условий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172730" y="4496593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4 · Utility + constraints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Reservation utility - порог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172730" y="5516924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5 · Review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Факты, экономика, повтор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 xmlns:a="http://schemas.openxmlformats.org/drawingml/2006/main"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3200" y="6356350"/>
            <a:ext cx="558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rPr>
                <a:solidFill>
                  <a:schemeClr val="accent5"/>
                </a:solidFill>
              </a:rPr>
              <a:t>6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df54f19495f452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2" name="AutoShape 1">
            <a:extLst xmlns:a="http://schemas.openxmlformats.org/drawingml/2006/main">
              <a:ext uri="{FF2B5EF4-FFF2-40B4-BE49-F238E27FC236}">
                <a16:creationId xmlns:a16="http://schemas.microsoft.com/office/drawing/2014/main" id="{C5DD9855-9040-4A8E-8FC7-2A87D71D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498" y="1149443"/>
            <a:ext cx="4266586" cy="2822929"/>
          </a:xfrm>
          <a:prstGeom xmlns:a="http://schemas.openxmlformats.org/drawingml/2006/main" prst="roundRect">
            <a:avLst>
              <a:gd name="adj" fmla="val 129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CA962FF-DEAF-450E-BAC9-2CBF039F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124" y="1358784"/>
            <a:ext cx="4266587" cy="1998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4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9B32C08-05E5-455D-AB4B-FA780C0B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2205" y="1203365"/>
            <a:ext cx="1706634" cy="355244"/>
          </a:xfrm>
          <a:prstGeom xmlns:a="http://schemas.openxmlformats.org/drawingml/2006/main" prst="roundRect">
            <a:avLst>
              <a:gd name="adj" fmla="val 11986"/>
            </a:avLst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5" name="Oval 4">
            <a:extLst xmlns:a="http://schemas.openxmlformats.org/drawingml/2006/main">
              <a:ext uri="{FF2B5EF4-FFF2-40B4-BE49-F238E27FC236}">
                <a16:creationId xmlns:a16="http://schemas.microsoft.com/office/drawing/2014/main" id="{DB5DCAC2-FF8B-4D8A-8761-EF6BE6B4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574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6" name="Oval 5">
            <a:extLst xmlns:a="http://schemas.openxmlformats.org/drawingml/2006/main">
              <a:ext uri="{FF2B5EF4-FFF2-40B4-BE49-F238E27FC236}">
                <a16:creationId xmlns:a16="http://schemas.microsoft.com/office/drawing/2014/main" id="{A18062AF-728F-4F67-A9EE-6DA3DC1E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239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7" name="Oval 6">
            <a:extLst xmlns:a="http://schemas.openxmlformats.org/drawingml/2006/main">
              <a:ext uri="{FF2B5EF4-FFF2-40B4-BE49-F238E27FC236}">
                <a16:creationId xmlns:a16="http://schemas.microsoft.com/office/drawing/2014/main" id="{1F8B8CA3-31B9-4E3E-89F8-B823F31C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903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8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C40CC64C-4BDE-4B83-ACBA-76BBEC31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9263" y="1396846"/>
            <a:ext cx="3205451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3B3B3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251ED56-D5C4-4244-B7B8-9CC65D6F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03365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CE11028-B7CA-451E-851D-176871A0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40208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663966C-C5F6-4AF2-AC81-EF7A040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76945"/>
            <a:ext cx="24455" cy="24634"/>
          </a:xfrm>
          <a:custGeom xmlns:a="http://schemas.openxmlformats.org/drawingml/2006/main">
            <a:gdLst>
              <a:gd name="T0" fmla="*/ 168 w 193"/>
              <a:gd name="T1" fmla="*/ 0 h 193"/>
              <a:gd name="T2" fmla="*/ 24 w 193"/>
              <a:gd name="T3" fmla="*/ 0 h 193"/>
              <a:gd name="T4" fmla="*/ 0 w 193"/>
              <a:gd name="T5" fmla="*/ 25 h 193"/>
              <a:gd name="T6" fmla="*/ 0 w 193"/>
              <a:gd name="T7" fmla="*/ 169 h 193"/>
              <a:gd name="T8" fmla="*/ 24 w 193"/>
              <a:gd name="T9" fmla="*/ 193 h 193"/>
              <a:gd name="T10" fmla="*/ 168 w 193"/>
              <a:gd name="T11" fmla="*/ 193 h 193"/>
              <a:gd name="T12" fmla="*/ 193 w 193"/>
              <a:gd name="T13" fmla="*/ 169 h 193"/>
              <a:gd name="T14" fmla="*/ 193 w 193"/>
              <a:gd name="T15" fmla="*/ 25 h 193"/>
              <a:gd name="T16" fmla="*/ 168 w 193"/>
              <a:gd name="T17" fmla="*/ 0 h 193"/>
            </a:gdLst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231452A-2DB6-4628-B13E-989E3196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03365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02B5F533-7190-4486-800E-50B9DEE2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40208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7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1197ACF-D4F7-4F4F-B51B-31BAB03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76945"/>
            <a:ext cx="24294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8" name="Freeform 19">
            <a:extLst xmlns:a="http://schemas.openxmlformats.org/drawingml/2006/main">
              <a:ext uri="{FF2B5EF4-FFF2-40B4-BE49-F238E27FC236}">
                <a16:creationId xmlns:a16="http://schemas.microsoft.com/office/drawing/2014/main" id="{305C916E-AA00-40D3-979E-8385C880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03365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9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06A4951-C43E-4D62-8601-77DAE03D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40208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0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4DF5AB0-92B8-4555-8BFE-FEB94F35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76945"/>
            <a:ext cx="24348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0" name="Freeform 25">
            <a:extLst xmlns:a="http://schemas.openxmlformats.org/drawingml/2006/main">
              <a:ext uri="{FF2B5EF4-FFF2-40B4-BE49-F238E27FC236}">
                <a16:creationId xmlns:a16="http://schemas.microsoft.com/office/drawing/2014/main" id="{C904AC4F-21D6-40FC-874A-C69831B8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5211808" y="1416310"/>
            <a:ext cx="92256" cy="81375"/>
          </a:xfrm>
          <a:custGeom xmlns:a="http://schemas.openxmlformats.org/drawingml/2006/main">
            <a:gdLst>
              <a:gd name="T0" fmla="*/ 504 w 896"/>
              <a:gd name="T1" fmla="*/ 0 h 784"/>
              <a:gd name="T2" fmla="*/ 116 w 896"/>
              <a:gd name="T3" fmla="*/ 336 h 784"/>
              <a:gd name="T4" fmla="*/ 0 w 896"/>
              <a:gd name="T5" fmla="*/ 336 h 784"/>
              <a:gd name="T6" fmla="*/ 168 w 896"/>
              <a:gd name="T7" fmla="*/ 560 h 784"/>
              <a:gd name="T8" fmla="*/ 336 w 896"/>
              <a:gd name="T9" fmla="*/ 336 h 784"/>
              <a:gd name="T10" fmla="*/ 230 w 896"/>
              <a:gd name="T11" fmla="*/ 336 h 784"/>
              <a:gd name="T12" fmla="*/ 504 w 896"/>
              <a:gd name="T13" fmla="*/ 112 h 784"/>
              <a:gd name="T14" fmla="*/ 784 w 896"/>
              <a:gd name="T15" fmla="*/ 392 h 784"/>
              <a:gd name="T16" fmla="*/ 504 w 896"/>
              <a:gd name="T17" fmla="*/ 672 h 784"/>
              <a:gd name="T18" fmla="*/ 504 w 896"/>
              <a:gd name="T19" fmla="*/ 784 h 784"/>
              <a:gd name="T20" fmla="*/ 896 w 896"/>
              <a:gd name="T21" fmla="*/ 392 h 784"/>
              <a:gd name="T22" fmla="*/ 504 w 896"/>
              <a:gd name="T23" fmla="*/ 0 h 784"/>
            </a:gdLst>
            <a:rect l="0" t="0" r="r" b="b"/>
            <a:pathLst>
              <a:path w="896" h="784">
                <a:moveTo>
                  <a:pt x="504" y="0"/>
                </a:moveTo>
                <a:cubicBezTo>
                  <a:pt x="307" y="0"/>
                  <a:pt x="144" y="146"/>
                  <a:pt x="116" y="336"/>
                </a:cubicBezTo>
                <a:cubicBezTo>
                  <a:pt x="0" y="336"/>
                  <a:pt x="0" y="336"/>
                  <a:pt x="0" y="336"/>
                </a:cubicBezTo>
                <a:cubicBezTo>
                  <a:pt x="168" y="560"/>
                  <a:pt x="168" y="560"/>
                  <a:pt x="168" y="560"/>
                </a:cubicBezTo>
                <a:cubicBezTo>
                  <a:pt x="336" y="336"/>
                  <a:pt x="336" y="336"/>
                  <a:pt x="336" y="336"/>
                </a:cubicBezTo>
                <a:cubicBezTo>
                  <a:pt x="230" y="336"/>
                  <a:pt x="230" y="336"/>
                  <a:pt x="230" y="336"/>
                </a:cubicBezTo>
                <a:cubicBezTo>
                  <a:pt x="256" y="208"/>
                  <a:pt x="369" y="112"/>
                  <a:pt x="504" y="112"/>
                </a:cubicBezTo>
                <a:cubicBezTo>
                  <a:pt x="658" y="112"/>
                  <a:pt x="784" y="238"/>
                  <a:pt x="784" y="392"/>
                </a:cubicBezTo>
                <a:cubicBezTo>
                  <a:pt x="784" y="546"/>
                  <a:pt x="658" y="672"/>
                  <a:pt x="504" y="672"/>
                </a:cubicBezTo>
                <a:cubicBezTo>
                  <a:pt x="504" y="784"/>
                  <a:pt x="504" y="784"/>
                  <a:pt x="504" y="784"/>
                </a:cubicBezTo>
                <a:cubicBezTo>
                  <a:pt x="721" y="784"/>
                  <a:pt x="896" y="609"/>
                  <a:pt x="896" y="392"/>
                </a:cubicBezTo>
                <a:cubicBezTo>
                  <a:pt x="896" y="175"/>
                  <a:pt x="721" y="0"/>
                  <a:pt x="50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1" name="Oval 6">
            <a:extLst xmlns:a="http://schemas.openxmlformats.org/drawingml/2006/main">
              <a:ext uri="{FF2B5EF4-FFF2-40B4-BE49-F238E27FC236}">
                <a16:creationId xmlns:a16="http://schemas.microsoft.com/office/drawing/2014/main" id="{008AEF74-0CB4-4F9D-941F-B3FDCFD4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3769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FF43D9F-F201-460A-B5AB-10C4C632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5596" y="1340551"/>
            <a:ext cx="962343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  <a:latin typeface="Poppins Light"/>
                <a:ea typeface="Poppins Light"/>
                <a:cs typeface="Poppins Light"/>
              </a:rPr>
              <a:t>template-only</a:t>
            </a:r>
          </a:p>
        </p:txBody>
      </p:sp>
      <p:sp>
        <p:nvSpPr>
          <p:cNvPr id="11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73BAD95-B78D-42DD-A801-8B84C3BF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9513" y="1425286"/>
            <a:ext cx="72445" cy="73024"/>
          </a:xfrm>
          <a:custGeom xmlns:a="http://schemas.openxmlformats.org/drawingml/2006/main">
            <a:gdLst>
              <a:gd name="T0" fmla="*/ 0 w 636"/>
              <a:gd name="T1" fmla="*/ 318 h 636"/>
              <a:gd name="T2" fmla="*/ 636 w 636"/>
              <a:gd name="T3" fmla="*/ 318 h 636"/>
              <a:gd name="T4" fmla="*/ 594 w 636"/>
              <a:gd name="T5" fmla="*/ 308 h 636"/>
              <a:gd name="T6" fmla="*/ 448 w 636"/>
              <a:gd name="T7" fmla="*/ 179 h 636"/>
              <a:gd name="T8" fmla="*/ 594 w 636"/>
              <a:gd name="T9" fmla="*/ 308 h 636"/>
              <a:gd name="T10" fmla="*/ 223 w 636"/>
              <a:gd name="T11" fmla="*/ 486 h 636"/>
              <a:gd name="T12" fmla="*/ 308 w 636"/>
              <a:gd name="T13" fmla="*/ 594 h 636"/>
              <a:gd name="T14" fmla="*/ 329 w 636"/>
              <a:gd name="T15" fmla="*/ 42 h 636"/>
              <a:gd name="T16" fmla="*/ 328 w 636"/>
              <a:gd name="T17" fmla="*/ 184 h 636"/>
              <a:gd name="T18" fmla="*/ 329 w 636"/>
              <a:gd name="T19" fmla="*/ 42 h 636"/>
              <a:gd name="T20" fmla="*/ 510 w 636"/>
              <a:gd name="T21" fmla="*/ 119 h 636"/>
              <a:gd name="T22" fmla="*/ 363 w 636"/>
              <a:gd name="T23" fmla="*/ 45 h 636"/>
              <a:gd name="T24" fmla="*/ 308 w 636"/>
              <a:gd name="T25" fmla="*/ 184 h 636"/>
              <a:gd name="T26" fmla="*/ 307 w 636"/>
              <a:gd name="T27" fmla="*/ 42 h 636"/>
              <a:gd name="T28" fmla="*/ 196 w 636"/>
              <a:gd name="T29" fmla="*/ 160 h 636"/>
              <a:gd name="T30" fmla="*/ 273 w 636"/>
              <a:gd name="T31" fmla="*/ 45 h 636"/>
              <a:gd name="T32" fmla="*/ 207 w 636"/>
              <a:gd name="T33" fmla="*/ 186 h 636"/>
              <a:gd name="T34" fmla="*/ 308 w 636"/>
              <a:gd name="T35" fmla="*/ 308 h 636"/>
              <a:gd name="T36" fmla="*/ 207 w 636"/>
              <a:gd name="T37" fmla="*/ 186 h 636"/>
              <a:gd name="T38" fmla="*/ 308 w 636"/>
              <a:gd name="T39" fmla="*/ 452 h 636"/>
              <a:gd name="T40" fmla="*/ 185 w 636"/>
              <a:gd name="T41" fmla="*/ 328 h 636"/>
              <a:gd name="T42" fmla="*/ 273 w 636"/>
              <a:gd name="T43" fmla="*/ 591 h 636"/>
              <a:gd name="T44" fmla="*/ 204 w 636"/>
              <a:gd name="T45" fmla="*/ 493 h 636"/>
              <a:gd name="T46" fmla="*/ 328 w 636"/>
              <a:gd name="T47" fmla="*/ 594 h 636"/>
              <a:gd name="T48" fmla="*/ 413 w 636"/>
              <a:gd name="T49" fmla="*/ 486 h 636"/>
              <a:gd name="T50" fmla="*/ 328 w 636"/>
              <a:gd name="T51" fmla="*/ 594 h 636"/>
              <a:gd name="T52" fmla="*/ 498 w 636"/>
              <a:gd name="T53" fmla="*/ 528 h 636"/>
              <a:gd name="T54" fmla="*/ 432 w 636"/>
              <a:gd name="T55" fmla="*/ 493 h 636"/>
              <a:gd name="T56" fmla="*/ 328 w 636"/>
              <a:gd name="T57" fmla="*/ 452 h 636"/>
              <a:gd name="T58" fmla="*/ 451 w 636"/>
              <a:gd name="T59" fmla="*/ 328 h 636"/>
              <a:gd name="T60" fmla="*/ 328 w 636"/>
              <a:gd name="T61" fmla="*/ 308 h 636"/>
              <a:gd name="T62" fmla="*/ 429 w 636"/>
              <a:gd name="T63" fmla="*/ 186 h 636"/>
              <a:gd name="T64" fmla="*/ 328 w 636"/>
              <a:gd name="T65" fmla="*/ 308 h 636"/>
              <a:gd name="T66" fmla="*/ 188 w 636"/>
              <a:gd name="T67" fmla="*/ 179 h 636"/>
              <a:gd name="T68" fmla="*/ 42 w 636"/>
              <a:gd name="T69" fmla="*/ 308 h 636"/>
              <a:gd name="T70" fmla="*/ 42 w 636"/>
              <a:gd name="T71" fmla="*/ 328 h 636"/>
              <a:gd name="T72" fmla="*/ 195 w 636"/>
              <a:gd name="T73" fmla="*/ 475 h 636"/>
              <a:gd name="T74" fmla="*/ 42 w 636"/>
              <a:gd name="T75" fmla="*/ 328 h 636"/>
              <a:gd name="T76" fmla="*/ 441 w 636"/>
              <a:gd name="T77" fmla="*/ 475 h 636"/>
              <a:gd name="T78" fmla="*/ 594 w 636"/>
              <a:gd name="T79" fmla="*/ 328 h 636"/>
            </a:gdLst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5" name="AutoShape 1">
            <a:extLst xmlns:a="http://schemas.openxmlformats.org/drawingml/2006/main">
              <a:ext uri="{FF2B5EF4-FFF2-40B4-BE49-F238E27FC236}">
                <a16:creationId xmlns:a16="http://schemas.microsoft.com/office/drawing/2014/main" id="{48F16F12-B004-4ABE-AAA8-42D597EF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5396" y="1149443"/>
            <a:ext cx="4266586" cy="2822929"/>
          </a:xfrm>
          <a:prstGeom xmlns:a="http://schemas.openxmlformats.org/drawingml/2006/main" prst="roundRect">
            <a:avLst>
              <a:gd name="adj" fmla="val 129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CE4B65-6103-4C38-92A7-2A427C04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4022" y="1358784"/>
            <a:ext cx="4266587" cy="1998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7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97699FF-7AA4-40F4-81BC-DF7B89B3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7103" y="1203365"/>
            <a:ext cx="1706634" cy="355244"/>
          </a:xfrm>
          <a:prstGeom xmlns:a="http://schemas.openxmlformats.org/drawingml/2006/main" prst="roundRect">
            <a:avLst>
              <a:gd name="adj" fmla="val 11986"/>
            </a:avLst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8" name="Oval 4">
            <a:extLst xmlns:a="http://schemas.openxmlformats.org/drawingml/2006/main">
              <a:ext uri="{FF2B5EF4-FFF2-40B4-BE49-F238E27FC236}">
                <a16:creationId xmlns:a16="http://schemas.microsoft.com/office/drawing/2014/main" id="{D68B6E0E-D3C7-4493-A31B-8207DAE9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3472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9" name="Oval 5">
            <a:extLst xmlns:a="http://schemas.openxmlformats.org/drawingml/2006/main">
              <a:ext uri="{FF2B5EF4-FFF2-40B4-BE49-F238E27FC236}">
                <a16:creationId xmlns:a16="http://schemas.microsoft.com/office/drawing/2014/main" id="{AA3A8A3A-E81C-4F16-9EA2-9F11A977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70137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0" name="Oval 6">
            <a:extLst xmlns:a="http://schemas.openxmlformats.org/drawingml/2006/main">
              <a:ext uri="{FF2B5EF4-FFF2-40B4-BE49-F238E27FC236}">
                <a16:creationId xmlns:a16="http://schemas.microsoft.com/office/drawing/2014/main" id="{539165D2-E0B0-4B91-BDF2-5FF535A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6801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1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B58995FD-774E-443F-8F74-D69C353C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161" y="1396846"/>
            <a:ext cx="3205451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3B3B3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5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EE8F120-DDD5-495E-8097-10825D0A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03365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6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99F88D3-5C91-4BBA-BE63-9371B4B3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40208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7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1C5DCC2-9B40-4DA3-AB2F-ED9C5D89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76945"/>
            <a:ext cx="24455" cy="24634"/>
          </a:xfrm>
          <a:custGeom xmlns:a="http://schemas.openxmlformats.org/drawingml/2006/main">
            <a:gdLst>
              <a:gd name="T0" fmla="*/ 168 w 193"/>
              <a:gd name="T1" fmla="*/ 0 h 193"/>
              <a:gd name="T2" fmla="*/ 24 w 193"/>
              <a:gd name="T3" fmla="*/ 0 h 193"/>
              <a:gd name="T4" fmla="*/ 0 w 193"/>
              <a:gd name="T5" fmla="*/ 25 h 193"/>
              <a:gd name="T6" fmla="*/ 0 w 193"/>
              <a:gd name="T7" fmla="*/ 169 h 193"/>
              <a:gd name="T8" fmla="*/ 24 w 193"/>
              <a:gd name="T9" fmla="*/ 193 h 193"/>
              <a:gd name="T10" fmla="*/ 168 w 193"/>
              <a:gd name="T11" fmla="*/ 193 h 193"/>
              <a:gd name="T12" fmla="*/ 193 w 193"/>
              <a:gd name="T13" fmla="*/ 169 h 193"/>
              <a:gd name="T14" fmla="*/ 193 w 193"/>
              <a:gd name="T15" fmla="*/ 25 h 193"/>
              <a:gd name="T16" fmla="*/ 168 w 193"/>
              <a:gd name="T17" fmla="*/ 0 h 193"/>
            </a:gdLst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8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721D991-881C-4DBE-AF30-E47AE304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03365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9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7111254-2A6F-40F4-8741-1C703E4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40208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0" name="Freeform 18">
            <a:extLst xmlns:a="http://schemas.openxmlformats.org/drawingml/2006/main">
              <a:ext uri="{FF2B5EF4-FFF2-40B4-BE49-F238E27FC236}">
                <a16:creationId xmlns:a16="http://schemas.microsoft.com/office/drawing/2014/main" id="{3448ADF5-3363-4495-90EA-D3397EA0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76945"/>
            <a:ext cx="24294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1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11FFFD8-A688-46DB-9518-83D23CB9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03365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B48C2AB-505E-4332-A44A-9D533A65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40208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BFBAB80-64C2-4E27-A1CC-A218E6C3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76945"/>
            <a:ext cx="24348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3" name="Freeform 25">
            <a:extLst xmlns:a="http://schemas.openxmlformats.org/drawingml/2006/main">
              <a:ext uri="{FF2B5EF4-FFF2-40B4-BE49-F238E27FC236}">
                <a16:creationId xmlns:a16="http://schemas.microsoft.com/office/drawing/2014/main" id="{27106E3B-5EE5-442B-87E5-0B8163B9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0856706" y="1416310"/>
            <a:ext cx="92256" cy="81375"/>
          </a:xfrm>
          <a:custGeom xmlns:a="http://schemas.openxmlformats.org/drawingml/2006/main">
            <a:gdLst>
              <a:gd name="T0" fmla="*/ 504 w 896"/>
              <a:gd name="T1" fmla="*/ 0 h 784"/>
              <a:gd name="T2" fmla="*/ 116 w 896"/>
              <a:gd name="T3" fmla="*/ 336 h 784"/>
              <a:gd name="T4" fmla="*/ 0 w 896"/>
              <a:gd name="T5" fmla="*/ 336 h 784"/>
              <a:gd name="T6" fmla="*/ 168 w 896"/>
              <a:gd name="T7" fmla="*/ 560 h 784"/>
              <a:gd name="T8" fmla="*/ 336 w 896"/>
              <a:gd name="T9" fmla="*/ 336 h 784"/>
              <a:gd name="T10" fmla="*/ 230 w 896"/>
              <a:gd name="T11" fmla="*/ 336 h 784"/>
              <a:gd name="T12" fmla="*/ 504 w 896"/>
              <a:gd name="T13" fmla="*/ 112 h 784"/>
              <a:gd name="T14" fmla="*/ 784 w 896"/>
              <a:gd name="T15" fmla="*/ 392 h 784"/>
              <a:gd name="T16" fmla="*/ 504 w 896"/>
              <a:gd name="T17" fmla="*/ 672 h 784"/>
              <a:gd name="T18" fmla="*/ 504 w 896"/>
              <a:gd name="T19" fmla="*/ 784 h 784"/>
              <a:gd name="T20" fmla="*/ 896 w 896"/>
              <a:gd name="T21" fmla="*/ 392 h 784"/>
              <a:gd name="T22" fmla="*/ 504 w 896"/>
              <a:gd name="T23" fmla="*/ 0 h 784"/>
            </a:gdLst>
            <a:rect l="0" t="0" r="r" b="b"/>
            <a:pathLst>
              <a:path w="896" h="784">
                <a:moveTo>
                  <a:pt x="504" y="0"/>
                </a:moveTo>
                <a:cubicBezTo>
                  <a:pt x="307" y="0"/>
                  <a:pt x="144" y="146"/>
                  <a:pt x="116" y="336"/>
                </a:cubicBezTo>
                <a:cubicBezTo>
                  <a:pt x="0" y="336"/>
                  <a:pt x="0" y="336"/>
                  <a:pt x="0" y="336"/>
                </a:cubicBezTo>
                <a:cubicBezTo>
                  <a:pt x="168" y="560"/>
                  <a:pt x="168" y="560"/>
                  <a:pt x="168" y="560"/>
                </a:cubicBezTo>
                <a:cubicBezTo>
                  <a:pt x="336" y="336"/>
                  <a:pt x="336" y="336"/>
                  <a:pt x="336" y="336"/>
                </a:cubicBezTo>
                <a:cubicBezTo>
                  <a:pt x="230" y="336"/>
                  <a:pt x="230" y="336"/>
                  <a:pt x="230" y="336"/>
                </a:cubicBezTo>
                <a:cubicBezTo>
                  <a:pt x="256" y="208"/>
                  <a:pt x="369" y="112"/>
                  <a:pt x="504" y="112"/>
                </a:cubicBezTo>
                <a:cubicBezTo>
                  <a:pt x="658" y="112"/>
                  <a:pt x="784" y="238"/>
                  <a:pt x="784" y="392"/>
                </a:cubicBezTo>
                <a:cubicBezTo>
                  <a:pt x="784" y="546"/>
                  <a:pt x="658" y="672"/>
                  <a:pt x="504" y="672"/>
                </a:cubicBezTo>
                <a:cubicBezTo>
                  <a:pt x="504" y="784"/>
                  <a:pt x="504" y="784"/>
                  <a:pt x="504" y="784"/>
                </a:cubicBezTo>
                <a:cubicBezTo>
                  <a:pt x="721" y="784"/>
                  <a:pt x="896" y="609"/>
                  <a:pt x="896" y="392"/>
                </a:cubicBezTo>
                <a:cubicBezTo>
                  <a:pt x="896" y="175"/>
                  <a:pt x="721" y="0"/>
                  <a:pt x="50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4" name="Oval 6">
            <a:extLst xmlns:a="http://schemas.openxmlformats.org/drawingml/2006/main">
              <a:ext uri="{FF2B5EF4-FFF2-40B4-BE49-F238E27FC236}">
                <a16:creationId xmlns:a16="http://schemas.microsoft.com/office/drawing/2014/main" id="{AFFAA0AD-114A-4831-ACE3-B8C4258E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8667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4BEAEF8-91EF-49C8-A667-2BC7D51C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0494" y="1340551"/>
            <a:ext cx="962343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  <a:latin typeface="Poppins Light"/>
                <a:ea typeface="Poppins Light"/>
                <a:cs typeface="Poppins Light"/>
              </a:rPr>
              <a:t>template-only</a:t>
            </a:r>
          </a:p>
        </p:txBody>
      </p:sp>
      <p:sp>
        <p:nvSpPr>
          <p:cNvPr id="34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C88632E-4E09-404A-9868-C0997FA1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4411" y="1425286"/>
            <a:ext cx="72445" cy="73024"/>
          </a:xfrm>
          <a:custGeom xmlns:a="http://schemas.openxmlformats.org/drawingml/2006/main">
            <a:gdLst>
              <a:gd name="T0" fmla="*/ 0 w 636"/>
              <a:gd name="T1" fmla="*/ 318 h 636"/>
              <a:gd name="T2" fmla="*/ 636 w 636"/>
              <a:gd name="T3" fmla="*/ 318 h 636"/>
              <a:gd name="T4" fmla="*/ 594 w 636"/>
              <a:gd name="T5" fmla="*/ 308 h 636"/>
              <a:gd name="T6" fmla="*/ 448 w 636"/>
              <a:gd name="T7" fmla="*/ 179 h 636"/>
              <a:gd name="T8" fmla="*/ 594 w 636"/>
              <a:gd name="T9" fmla="*/ 308 h 636"/>
              <a:gd name="T10" fmla="*/ 223 w 636"/>
              <a:gd name="T11" fmla="*/ 486 h 636"/>
              <a:gd name="T12" fmla="*/ 308 w 636"/>
              <a:gd name="T13" fmla="*/ 594 h 636"/>
              <a:gd name="T14" fmla="*/ 329 w 636"/>
              <a:gd name="T15" fmla="*/ 42 h 636"/>
              <a:gd name="T16" fmla="*/ 328 w 636"/>
              <a:gd name="T17" fmla="*/ 184 h 636"/>
              <a:gd name="T18" fmla="*/ 329 w 636"/>
              <a:gd name="T19" fmla="*/ 42 h 636"/>
              <a:gd name="T20" fmla="*/ 510 w 636"/>
              <a:gd name="T21" fmla="*/ 119 h 636"/>
              <a:gd name="T22" fmla="*/ 363 w 636"/>
              <a:gd name="T23" fmla="*/ 45 h 636"/>
              <a:gd name="T24" fmla="*/ 308 w 636"/>
              <a:gd name="T25" fmla="*/ 184 h 636"/>
              <a:gd name="T26" fmla="*/ 307 w 636"/>
              <a:gd name="T27" fmla="*/ 42 h 636"/>
              <a:gd name="T28" fmla="*/ 196 w 636"/>
              <a:gd name="T29" fmla="*/ 160 h 636"/>
              <a:gd name="T30" fmla="*/ 273 w 636"/>
              <a:gd name="T31" fmla="*/ 45 h 636"/>
              <a:gd name="T32" fmla="*/ 207 w 636"/>
              <a:gd name="T33" fmla="*/ 186 h 636"/>
              <a:gd name="T34" fmla="*/ 308 w 636"/>
              <a:gd name="T35" fmla="*/ 308 h 636"/>
              <a:gd name="T36" fmla="*/ 207 w 636"/>
              <a:gd name="T37" fmla="*/ 186 h 636"/>
              <a:gd name="T38" fmla="*/ 308 w 636"/>
              <a:gd name="T39" fmla="*/ 452 h 636"/>
              <a:gd name="T40" fmla="*/ 185 w 636"/>
              <a:gd name="T41" fmla="*/ 328 h 636"/>
              <a:gd name="T42" fmla="*/ 273 w 636"/>
              <a:gd name="T43" fmla="*/ 591 h 636"/>
              <a:gd name="T44" fmla="*/ 204 w 636"/>
              <a:gd name="T45" fmla="*/ 493 h 636"/>
              <a:gd name="T46" fmla="*/ 328 w 636"/>
              <a:gd name="T47" fmla="*/ 594 h 636"/>
              <a:gd name="T48" fmla="*/ 413 w 636"/>
              <a:gd name="T49" fmla="*/ 486 h 636"/>
              <a:gd name="T50" fmla="*/ 328 w 636"/>
              <a:gd name="T51" fmla="*/ 594 h 636"/>
              <a:gd name="T52" fmla="*/ 498 w 636"/>
              <a:gd name="T53" fmla="*/ 528 h 636"/>
              <a:gd name="T54" fmla="*/ 432 w 636"/>
              <a:gd name="T55" fmla="*/ 493 h 636"/>
              <a:gd name="T56" fmla="*/ 328 w 636"/>
              <a:gd name="T57" fmla="*/ 452 h 636"/>
              <a:gd name="T58" fmla="*/ 451 w 636"/>
              <a:gd name="T59" fmla="*/ 328 h 636"/>
              <a:gd name="T60" fmla="*/ 328 w 636"/>
              <a:gd name="T61" fmla="*/ 308 h 636"/>
              <a:gd name="T62" fmla="*/ 429 w 636"/>
              <a:gd name="T63" fmla="*/ 186 h 636"/>
              <a:gd name="T64" fmla="*/ 328 w 636"/>
              <a:gd name="T65" fmla="*/ 308 h 636"/>
              <a:gd name="T66" fmla="*/ 188 w 636"/>
              <a:gd name="T67" fmla="*/ 179 h 636"/>
              <a:gd name="T68" fmla="*/ 42 w 636"/>
              <a:gd name="T69" fmla="*/ 308 h 636"/>
              <a:gd name="T70" fmla="*/ 42 w 636"/>
              <a:gd name="T71" fmla="*/ 328 h 636"/>
              <a:gd name="T72" fmla="*/ 195 w 636"/>
              <a:gd name="T73" fmla="*/ 475 h 636"/>
              <a:gd name="T74" fmla="*/ 42 w 636"/>
              <a:gd name="T75" fmla="*/ 328 h 636"/>
              <a:gd name="T76" fmla="*/ 441 w 636"/>
              <a:gd name="T77" fmla="*/ 475 h 636"/>
              <a:gd name="T78" fmla="*/ 594 w 636"/>
              <a:gd name="T79" fmla="*/ 328 h 636"/>
            </a:gdLst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solidFill>
                  <a:schemeClr val="accent5"/>
                </a:solidFill>
              </a:rPr>
              <a:t>7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Живой диалог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Интересы оппонента, структурированное предложение и явный выход из переговоров.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Честный разбор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Сделка ниже BATNA получает предупреждение. Награда и причинные обещания не показываются.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02" name="Рисунок 4"/>
          <p:cNvPicPr>
            <a:picLocks xmlns:a="http://schemas.openxmlformats.org/drawingml/2006/main" noChangeAspect="1"/>
          </p:cNvPicPr>
          <p:nvPr>
            <p:ph type="pic" idx="14"/>
          </p:nvPr>
        </p:nvPicPr>
        <p:blipFill>
          <a:blip xmlns:r="http://schemas.openxmlformats.org/officeDocument/2006/relationships" xmlns:a="http://schemas.openxmlformats.org/drawingml/2006/main" r:embed="R5549cb98f9c74fc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210628" y="1578007"/>
            <a:ext cx="4121658" cy="2284000"/>
          </a:xfrm>
          <a:prstGeom xmlns:a="http://schemas.openxmlformats.org/drawingml/2006/main" prst="rect">
            <a:avLst/>
          </a:prstGeom>
        </p:spPr>
      </p:pic>
      <p:pic>
        <p:nvPicPr>
          <p:cNvPr id="103" name="Рисунок 5"/>
          <p:cNvPicPr>
            <a:picLocks xmlns:a="http://schemas.openxmlformats.org/drawingml/2006/main" noChangeAspect="1"/>
          </p:cNvPicPr>
          <p:nvPr>
            <p:ph type="pic" idx="18"/>
          </p:nvPr>
        </p:nvPicPr>
        <p:blipFill>
          <a:blip xmlns:r="http://schemas.openxmlformats.org/officeDocument/2006/relationships" xmlns:a="http://schemas.openxmlformats.org/drawingml/2006/main" r:embed="R62b97a4442444ce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855524" y="1578007"/>
            <a:ext cx="4121658" cy="2284000"/>
          </a:xfrm>
          <a:prstGeom xmlns:a="http://schemas.openxmlformats.org/drawingml/2006/main" prst="rect">
            <a:avLst/>
          </a:prstGeom>
        </p:spPr>
      </p:pic>
      <p:sp>
        <p:nvSpPr>
          <p:cNvPr id="5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ДЕМО: ХОД → РАЗБОР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cd4dfa34b514e5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 xmlns:a="http://schemas.openxmlformats.org/drawingml/2006/main"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rPr>
                <a:solidFill>
                  <a:schemeClr val="accent5"/>
                </a:solidFill>
              </a:rPr>
              <a:t>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СЕЙЧАС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814077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Parser safety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Pinned demo path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ФИНАЛ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814077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Public filtered repo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Frozen template stand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1 МЕСЯЦ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814077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Авторинг кейсов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Pilot analytics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3 МЕСЯЦА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5181340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LMS / SSO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Team dashboards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ПОСЛЕ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5181340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Agent benchmark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buNone/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Private deployment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4" name="Прямая соединительная линия 33">
            <a:extLst xmlns:a="http://schemas.openxmlformats.org/drawingml/2006/main">
              <a:ext uri="{FF2B5EF4-FFF2-40B4-BE49-F238E27FC236}">
                <a16:creationId xmlns:a16="http://schemas.microsoft.com/office/drawing/2014/main" id="{A24024E3-CEE1-4CAA-8D9C-1DF560B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40" y="3860224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EFEFE8AE-33E5-4086-BABF-F4EE8898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137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Прямая соединительная линия 35">
            <a:extLst xmlns:a="http://schemas.openxmlformats.org/drawingml/2006/main">
              <a:ext uri="{FF2B5EF4-FFF2-40B4-BE49-F238E27FC236}">
                <a16:creationId xmlns:a16="http://schemas.microsoft.com/office/drawing/2014/main" id="{F79AA91B-69FD-40A0-A51F-7D31F5B6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334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Прямая соединительная линия 36">
            <a:extLst xmlns:a="http://schemas.openxmlformats.org/drawingml/2006/main">
              <a:ext uri="{FF2B5EF4-FFF2-40B4-BE49-F238E27FC236}">
                <a16:creationId xmlns:a16="http://schemas.microsoft.com/office/drawing/2014/main" id="{73D81751-BA5B-4F3C-BC08-8818935D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467" y="3862139"/>
            <a:ext cx="1332545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Прямая соединительная линия 37">
            <a:extLst xmlns:a="http://schemas.openxmlformats.org/drawingml/2006/main">
              <a:ext uri="{FF2B5EF4-FFF2-40B4-BE49-F238E27FC236}">
                <a16:creationId xmlns:a16="http://schemas.microsoft.com/office/drawing/2014/main" id="{F9E67623-C22E-469D-B02C-5814C334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114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Прямая соединительная линия 38">
            <a:extLst xmlns:a="http://schemas.openxmlformats.org/drawingml/2006/main">
              <a:ext uri="{FF2B5EF4-FFF2-40B4-BE49-F238E27FC236}">
                <a16:creationId xmlns:a16="http://schemas.microsoft.com/office/drawing/2014/main" id="{E3D02377-9A46-4B46-B041-95C07945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312" y="4216228"/>
            <a:ext cx="1245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Прямая соединительная линия 39">
            <a:extLst xmlns:a="http://schemas.openxmlformats.org/drawingml/2006/main">
              <a:ext uri="{FF2B5EF4-FFF2-40B4-BE49-F238E27FC236}">
                <a16:creationId xmlns:a16="http://schemas.microsoft.com/office/drawing/2014/main" id="{56D776F0-DB87-4FE2-8214-7991379B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4762"/>
            <a:ext cx="5509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Прямая соединительная линия 40">
            <a:extLst xmlns:a="http://schemas.openxmlformats.org/drawingml/2006/main">
              <a:ext uri="{FF2B5EF4-FFF2-40B4-BE49-F238E27FC236}">
                <a16:creationId xmlns:a16="http://schemas.microsoft.com/office/drawing/2014/main" id="{BE5164BB-B6A5-406D-BD40-96105DC2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343442" y="4216228"/>
            <a:ext cx="4264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Прямая соединительная линия 41">
            <a:extLst xmlns:a="http://schemas.openxmlformats.org/drawingml/2006/main">
              <a:ext uri="{FF2B5EF4-FFF2-40B4-BE49-F238E27FC236}">
                <a16:creationId xmlns:a16="http://schemas.microsoft.com/office/drawing/2014/main" id="{338C0E10-70BB-4C80-B5AC-9592000E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901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Скругленный прямоугольник 42">
            <a:extLst xmlns:a="http://schemas.openxmlformats.org/drawingml/2006/main"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26" y="3508049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44" name="Скругленный прямоугольник 43">
            <a:extLst xmlns:a="http://schemas.openxmlformats.org/drawingml/2006/main"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397" y="350613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45" name="Скругленный прямоугольник 44">
            <a:extLst xmlns:a="http://schemas.openxmlformats.org/drawingml/2006/main"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594" y="351625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53" name="Скругленный прямоугольник 52">
            <a:extLst xmlns:a="http://schemas.openxmlformats.org/drawingml/2006/main"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752" y="350613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54" name="Скругленный прямоугольник 53">
            <a:extLst xmlns:a="http://schemas.openxmlformats.org/drawingml/2006/main"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012" y="353862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РАЗВИТИЯ</a:t>
            </a:r>
            <a:endParaRPr/>
          </a:p>
        </p:txBody>
      </p:sp>
      <p:sp>
        <p:nvSpPr>
          <p:cNvPr id="14" name="Скругленный 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6" name="Скругленный 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1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8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78" y="4825338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708" y="4791290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06943aec8fb48d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D48B1-51C4-4BAA-B587-D7EC7E77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42912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CAB25-B36F-4267-B240-63016A8F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4067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ФРЕЙМВОРКИ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3E405-BA2F-4626-90F0-BD6AA4F9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19200"/>
            <a:ext cx="5476875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C8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B7545-495A-4CC7-85D2-51205293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541E4-53D3-41B3-B94D-4BDD061E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513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Гарвардский метод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9E0DD-8757-4451-81C4-CB0EB088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51339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Интересы вместо позиций. Варианты до решения. Объективные критерии. Отношения отделены от предмета сделки.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D8503-8665-42E6-A73E-055F6B9C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219200"/>
            <a:ext cx="5819775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C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9DEA8-05B6-439A-B40A-7862BC71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716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030FE-B307-4626-9512-373456C7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547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BATNA + reservation utility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7B497-B6AB-481A-97F4-779E8947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5476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BATNA — лучший вариант без сделки. Reservation utility — минимально приемлемый результат. Эти значения не смешиваются.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CD373-8A2B-4839-ABCF-C3309400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381375"/>
            <a:ext cx="54768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C8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35664-B363-4E8B-A63E-1702452D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33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B2BBF-8C70-47EE-97F6-A0356733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5133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ZOPA + Pareto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E2DC6-47D3-4453-802D-E8253035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00525"/>
            <a:ext cx="51339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ZOPA — множество приемлемых многомерных пакетов, а не только диапазон цены. Pareto-поиск отделяет создание ценности от её распределения.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D6D27-D98D-4A2A-B438-CD047B3C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81375"/>
            <a:ext cx="58197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C8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87CA3-380A-4E5B-B420-E3C15F51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33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39156-D4B9-45C0-B418-BD9C4044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547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Тактики Восса — опционально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EE0A24-3257-4D38-98D8-482E9A1E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00525"/>
            <a:ext cx="5476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Tentative labels, короткие mirrors, summaries и калиброванные вопросы «что/как» улучшают процесс. Они не меняют логику сделки.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387ED-1ED5-4B17-876B-25F63B8D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81675"/>
            <a:ext cx="115157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3FA"/>
          </a:solidFill>
          <a:ln xmlns:a="http://schemas.openxmlformats.org/drawingml/2006/main" w="9525">
            <a:solidFill>
              <a:srgbClr val="FFD6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353ED-A817-4635-A7A9-79C5201A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76925"/>
            <a:ext cx="1109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1451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2D1451"/>
                </a:solidFill>
                <a:latin typeface="Montserrat"/>
                <a:ea typeface="Montserrat"/>
                <a:cs typeface="Montserrat"/>
              </a:rPr>
              <a:t>Движок выбирает ЧТО допустимо. LLM формулирует КАК это сказать. Итоговый разбор: экономика • процесс • коммуникация.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9830854dfa943d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00F71-A940-46B8-B5CD-6C3148F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CF369-1DAF-452C-8D65-8D10CAE8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4591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ВЫБОР LLM: МОДЕЛЬ ПОД ЗАДАЧУ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455BE-B42A-4FA2-9DC5-D7C338D0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763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Три контура снижают задержку и стоимость без передачи модели контроля над сделкой.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C244A-4D31-4240-9599-A30501BA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66875"/>
            <a:ext cx="34480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84BBB-70F1-44DB-B5AC-6A48C9E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19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3F13E-D752-442E-AE93-E9C1E904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66925"/>
            <a:ext cx="3105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Диалог / NPC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A0707-B053-46AF-83C1-53773A72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86025"/>
            <a:ext cx="31051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deepseek-v4.1-flash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Быстрая естественная реплика. Thinking выключен. Grounding и fallback обязательны.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B252C-31D6-47B9-810D-741BAEAF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66875"/>
            <a:ext cx="34480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AC6CF-94F9-4883-A95C-A2BCC18A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19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6BABC-6FDB-4CAB-ACDE-AAF7FCD3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66925"/>
            <a:ext cx="3105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Control 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E179E-FFC3-4461-96F3-8B4C712D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86025"/>
            <a:ext cx="31051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deepseek-v4-flash-0731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Структурные задачи и контрольные операции. Thinking выключен. Решение проверяет движок.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339E4-FC28-4641-9437-D14814E9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3476625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2E8F9-5135-413F-A682-66A7F6DD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19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D5E03-99D1-4F84-BBF0-B93C79AA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66925"/>
            <a:ext cx="3133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Итоговый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6423B-4540-4608-AA25-9F0D8455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86025"/>
            <a:ext cx="31337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qwen3.8-max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Разбор завершённой сессии. Только sealed transcript и evidence-linked выводы.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40A88-A242-4286-8D9B-EF7EF94F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05325"/>
            <a:ext cx="74771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6A208C"/>
          </a:solidFill>
          <a:ln xmlns:a="http://schemas.openxmlformats.org/drawingml/2006/main" w="11430">
            <a:solidFill>
              <a:srgbClr val="8A83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2181B-DBEE-491F-A357-AF488125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6E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ПОЧЕМУ ТАК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F972E-7244-4377-A300-630DAB22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• отдельная модель для latency-sensitive диалога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• более сильная модель для редкого итогового разбора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• единый provider abstraction для OpenAI и QwenCloud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• deterministic fallback при таймауте или нарушении grounding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F3E0B-3831-46F6-824B-8061EA76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05325"/>
            <a:ext cx="3810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11430">
            <a:solidFill>
              <a:srgbClr val="FF00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3C923-5F83-46C3-85CD-7336FAF4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148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 моделей · 220 сессий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4E003-4FBA-4BBD-B957-763E2BE8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Role swap · RU/EN · fresh sessions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Метрики относятся к переговорной задаче, а не к общему интеллекту.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e1ccacbbae54e1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3EC09-CEF2-4B7B-8122-896EBEDC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37147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520977"/>
          </a:solidFill>
          <a:ln xmlns:a="http://schemas.openxmlformats.org/drawingml/2006/main" w="0">
            <a:solidFill>
              <a:srgbClr val="5209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3A90C-4DE0-4E49-8B59-B0991EBD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ШКАЛЫ ОТНОШЕНИЙ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B5BD2-7DD5-45EB-8694-8BB27527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964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D5964"/>
                </a:solidFill>
                <a:latin typeface="Montserrat"/>
                <a:ea typeface="Montserrat"/>
                <a:cs typeface="Montserrat"/>
              </a:rPr>
              <a:t>Параметры симуляции 0–100. Это не психологические измерения человека.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44191-F75C-403B-A0B7-E129BCE4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1451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D1451"/>
                </a:solidFill>
                <a:latin typeface="Montserrat"/>
                <a:ea typeface="Montserrat"/>
                <a:cs typeface="Montserrat"/>
              </a:rPr>
              <a:t>RAPPORT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B1BCA-B165-44C7-AFC2-CF49D677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24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5964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5D5964"/>
                </a:solidFill>
                <a:latin typeface="Montserrat"/>
                <a:ea typeface="Montserrat"/>
                <a:cs typeface="Montserrat"/>
              </a:rPr>
              <a:t>теплота и контакт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2FB72-6E73-49BF-BE50-3504F709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24000"/>
            <a:ext cx="6572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2"/>
          </a:solidFill>
          <a:ln xmlns:a="http://schemas.openxmlformats.org/drawingml/2006/main" w="0">
            <a:solidFill>
              <a:srgbClr val="EEE7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5E9D1-7D24-428E-BF80-3662408E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24000"/>
            <a:ext cx="2957513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0AA52-F4BA-40BA-B315-8D36E9A2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4192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F9059-E434-4F9C-878B-E7E3DF7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57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1451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D1451"/>
                </a:solidFill>
                <a:latin typeface="Montserrat"/>
                <a:ea typeface="Montserrat"/>
                <a:cs typeface="Montserrat"/>
              </a:rPr>
              <a:t>CREDIBILITY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860CE-C38D-4DBF-AF1C-3EFD8D21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52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5964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5D5964"/>
                </a:solidFill>
                <a:latin typeface="Montserrat"/>
                <a:ea typeface="Montserrat"/>
                <a:cs typeface="Montserrat"/>
              </a:rPr>
              <a:t>доверие к словам и обязательствам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EEDCB-A96D-41E9-A2D9-20A9976D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6572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2"/>
          </a:solidFill>
          <a:ln xmlns:a="http://schemas.openxmlformats.org/drawingml/2006/main" w="0">
            <a:solidFill>
              <a:srgbClr val="EEE7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9FBB0-201F-400B-B640-C2FEF642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3943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0977"/>
          </a:solidFill>
          <a:ln xmlns:a="http://schemas.openxmlformats.org/drawingml/2006/main" w="0">
            <a:solidFill>
              <a:srgbClr val="5209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06B1F-8A85-492E-BDF3-F584956C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4479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93929-CDC5-4AD7-82AF-8EFCF8F1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86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1451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D1451"/>
                </a:solidFill>
                <a:latin typeface="Montserrat"/>
                <a:ea typeface="Montserrat"/>
                <a:cs typeface="Montserrat"/>
              </a:rPr>
              <a:t>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B365C-77C3-4926-93DB-FD4AF8C3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814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5964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5D5964"/>
                </a:solidFill>
                <a:latin typeface="Montserrat"/>
                <a:ea typeface="Montserrat"/>
                <a:cs typeface="Montserrat"/>
              </a:rPr>
              <a:t>напряжение в обмене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8BDBC-CCE2-41C0-BFA5-13946D16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81400"/>
            <a:ext cx="6572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2"/>
          </a:solidFill>
          <a:ln xmlns:a="http://schemas.openxmlformats.org/drawingml/2006/main" w="0">
            <a:solidFill>
              <a:srgbClr val="EEE7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962C1-489C-4BA6-8C12-BDDF6EFB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81400"/>
            <a:ext cx="6572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9D38"/>
          </a:solidFill>
          <a:ln xmlns:a="http://schemas.openxmlformats.org/drawingml/2006/main" w="0">
            <a:solidFill>
              <a:srgbClr val="F29D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715CA-49F7-4D88-9BA5-EFBF1691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766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9D3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29D38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3A8B2-6E8E-4957-AEE1-71625E1F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14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1451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D1451"/>
                </a:solidFill>
                <a:latin typeface="Montserrat"/>
                <a:ea typeface="Montserrat"/>
                <a:cs typeface="Montserrat"/>
              </a:rPr>
              <a:t>PATIENCE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D721F-56D4-4553-9792-FF06F1AE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10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5964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5D5964"/>
                </a:solidFill>
                <a:latin typeface="Montserrat"/>
                <a:ea typeface="Montserrat"/>
                <a:cs typeface="Montserrat"/>
              </a:rPr>
              <a:t>готовность продолжать диалог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EAD7E-F0E6-4129-B7C3-8D8902A8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6572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2"/>
          </a:solidFill>
          <a:ln xmlns:a="http://schemas.openxmlformats.org/drawingml/2006/main" w="0">
            <a:solidFill>
              <a:srgbClr val="EEE7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987CED-BF28-4DAB-80FA-61B7810A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52578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solidFill>
              <a:srgbClr val="2D9D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FD3F3-08BD-4E95-9934-8E0FFB5A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5053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D9D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2D9D78"/>
                </a:solidFill>
                <a:latin typeface="Montserrat"/>
                <a:ea typeface="Montserrat"/>
                <a:cs typeface="Montserrat"/>
              </a:rPr>
              <a:t>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B13BB-5E87-4977-ADF6-4960F1F9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34025"/>
            <a:ext cx="1151572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3FA"/>
          </a:solidFill>
          <a:ln xmlns:a="http://schemas.openxmlformats.org/drawingml/2006/main" w="11430">
            <a:solidFill>
              <a:srgbClr val="D9C8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C1745F-0176-47D6-817C-1D21546B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8642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Примеры событий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E5792-C48D-4237-BD40-F7597361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8642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оскорбление: rapport −6, tension +8, patience −4   •   извинение: rapport +2, tension −5   •   признанная ложь: credibility −6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772EA-6431-4564-BE1B-910B976E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5312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1451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2D1451"/>
                </a:solidFill>
                <a:latin typeface="Montserrat"/>
                <a:ea typeface="Montserrat"/>
                <a:cs typeface="Montserrat"/>
              </a:rPr>
              <a:t>Шкалы меняют тон реплики. Они не меняют utility, reservation utility, hard constraints или подтверждение сделки.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4c96d3e52e5472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197AA-FFF5-4219-BAF9-3B88DFD3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61962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67D91-CF02-468C-94F1-F3C9F46B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4257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ЗАЧЕМ В ПЕРЕГОВОРАХ ГУФФИ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4F9E3-093A-4AFE-A7C0-1EFCA38C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28575">
            <a:solidFill>
              <a:srgbClr val="FFD6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EF62C-44B6-466D-A68B-9A113A3E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ГУФФИ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9BE24-DEEF-4860-AB97-A43D813C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D6E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собака NPC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5F259-B5FF-4C0F-9688-8FA78ACE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62075"/>
            <a:ext cx="7143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C8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94DB4-AA25-4646-8C81-1DB50484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51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C3C0F-B9F0-4A9B-BA59-310F0770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495425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Авторский личный факт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EBDD8-AFFC-470E-A50A-1B606321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76425"/>
            <a:ext cx="680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сценарии у NPC есть собака по имени Гуффи. Это безопасная тема для естественного small talk.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3641B-936B-4A84-9D98-8078115E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7143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C8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DC50E-7482-477A-A479-3381301D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289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B37CD-F291-442A-A31C-69D63E63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60985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Проверка контекста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09ECC-7FD5-49B0-8A64-88C74640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90850"/>
            <a:ext cx="680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Тема показывает внимание к деталям, память диалога и умение вернуться к коммерческому вопросу.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2FAF2-98EB-431F-8A1F-6857AE74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90925"/>
            <a:ext cx="7143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C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5CF88-972D-490E-B1C4-9BBF4912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433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346D5-789D-4E97-AE01-9511471A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724275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Ограниченный эффект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E04A4-2090-47B5-88C8-3A20F908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105275"/>
            <a:ext cx="680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8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Уместный интерес: rapport +3. Повторение получает penalty. Credibility и экономические условия не растут.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7614D-E4CC-423E-B788-6B6CDD83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05350"/>
            <a:ext cx="7143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C8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88719-DCD1-4A00-8C14-60793605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857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98409-A234-45FB-89B6-F7AA7E4E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3870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Не механика скидки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1340A3-1366-408A-9403-846569D3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19700"/>
            <a:ext cx="680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37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live-примере rapport вырос 55 → 58. Другие шкалы не изменились. Принятие сделки нельзя объяснять вопросом о собаке.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26092-F5B0-48F5-A2DA-FCF77CAA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244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ГУФФИ НУЖЕН, ЧТОБЫ ПРОВЕРИТЬ ЕСТЕСТВЕННОСТЬ И ГРАНИЦЫ СОЦИАЛЬНОГО КОНТЕКСТА.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15201b67a9f4b6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CE1250-6984-496B-84FD-E1E322FC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7625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1A79A-3F29-4DE1-BA7A-72A13A59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ДВА LLM-АГЕНТА: MCP-READY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B15DC-61BA-4107-A5B9-028879B3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5964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5D5964"/>
                </a:solidFill>
                <a:latin typeface="Montserrat"/>
                <a:ea typeface="Montserrat"/>
                <a:cs typeface="Montserrat"/>
              </a:rPr>
              <a:t>Сейчас: Player API + CLI self-play. Следующий интерфейс: MCP-адаптер поверх тех же безопасных операций.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EAD9E-D63A-42C8-9624-41FD9E6B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223837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8F3FA"/>
          </a:solidFill>
          <a:ln xmlns:a="http://schemas.openxmlformats.org/drawingml/2006/main" w="12383">
            <a:solidFill>
              <a:srgbClr val="FFD6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AD2FB-E595-4DC3-A935-B5937063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895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LLM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D554A-87F8-468D-9853-48D31F22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18954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Роль 1</a:t>
            </a:r>
          </a:p>
          <a:p xmlns:a="http://schemas.openxmlformats.org/drawingml/2006/main">
            <a:pPr>
              <a:def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наблюдение только своей стороны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9E196-B9E4-4EDE-A04C-3D60AF96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2875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D6E3"/>
          </a:solidFill>
          <a:ln xmlns:a="http://schemas.openxmlformats.org/drawingml/2006/main" w="12383">
            <a:solidFill>
              <a:srgbClr val="FF00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01BB9-1512-4159-A88A-A51BB8CB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00200"/>
            <a:ext cx="2228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MCP-адаптер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AF383-EF43-4150-812B-B4F00873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47875"/>
            <a:ext cx="2228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4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MCP tools → authenticated Player API</a:t>
            </a:r>
          </a:p>
          <a:p xmlns:a="http://schemas.openxmlformats.org/drawingml/2006/main">
            <a:pPr>
              <a:def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без обхода parser / validator /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2D645-911F-4700-B5B9-2988A7B3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520977"/>
          </a:solidFill>
          <a:ln xmlns:a="http://schemas.openxmlformats.org/drawingml/2006/main" w="12383">
            <a:solidFill>
              <a:srgbClr val="52097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18BA5-442D-4729-95DF-5618206C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0200"/>
            <a:ext cx="2228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ALOLA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4A06F-7EF1-4A0B-9726-DDA3A542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47875"/>
            <a:ext cx="2228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Сценарий, utility, constraints, event log, sealed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38E80-F697-4FEB-8D87-F57CDA8F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28750"/>
            <a:ext cx="223837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8F3FA"/>
          </a:solidFill>
          <a:ln xmlns:a="http://schemas.openxmlformats.org/drawingml/2006/main" w="12383">
            <a:solidFill>
              <a:srgbClr val="FFD6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6387F-DC55-4CEE-A93B-386E03FC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00200"/>
            <a:ext cx="1895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LLM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8EDF4-C2D7-4C80-A7EE-DF04615F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47875"/>
            <a:ext cx="18954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Роль 2</a:t>
            </a:r>
          </a:p>
          <a:p xmlns:a="http://schemas.openxmlformats.org/drawingml/2006/main">
            <a:pPr>
              <a:def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наблюдение только своей стороны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EBD62-10A4-4DF0-9075-33B27447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6690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8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A0C2B-59CE-496E-9967-73874450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8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69C5F-5142-4CF8-8578-71AF781D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8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CFC9D-BF5F-4D1F-883E-F6F0F263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86125"/>
            <a:ext cx="528637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C8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23150-5812-4C2C-9995-7ABF09AA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4943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УСЛОВИЯ СРАВНЕНИЯ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69950-9C54-4512-9EBD-E5D5AAE5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49434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fresh sessions и фиксированный сценарий</a:t>
            </a:r>
          </a:p>
          <a:p xmlns:a="http://schemas.openxmlformats.org/drawingml/2006/main">
            <a:pPr>
              <a:def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смена ролей для каждого pair</a:t>
            </a:r>
          </a:p>
          <a:p xmlns:a="http://schemas.openxmlformats.org/drawingml/2006/main">
            <a:pPr>
              <a:def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русский и английский языки</a:t>
            </a:r>
          </a:p>
          <a:p xmlns:a="http://schemas.openxmlformats.org/drawingml/2006/main">
            <a:pPr>
              <a:def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hints выключены</a:t>
            </a:r>
          </a:p>
          <a:p xmlns:a="http://schemas.openxmlformats.org/drawingml/2006/main">
            <a:pPr>
              <a:def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итоговый review видит sealed transcript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C0D9C-9A84-4A1F-9656-0F03D695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86125"/>
            <a:ext cx="576262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9C8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E27C1-2827-4078-A308-174495D7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57575"/>
            <a:ext cx="5419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ЧТО ИЗМЕРЯЕМ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BD4036-9BB6-4568-AD86-AD383218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4197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agreement rate и utility</a:t>
            </a:r>
          </a:p>
          <a:p xmlns:a="http://schemas.openxmlformats.org/drawingml/2006/main">
            <a:pPr>
              <a:def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соблюдение constraints и policy</a:t>
            </a:r>
          </a:p>
          <a:p xmlns:a="http://schemas.openxmlformats.org/drawingml/2006/main">
            <a:pPr>
              <a:def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качество вопросов и пакетных предложений</a:t>
            </a:r>
          </a:p>
          <a:p xmlns:a="http://schemas.openxmlformats.org/drawingml/2006/main">
            <a:pPr>
              <a:def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согласованность решений</a:t>
            </a:r>
          </a:p>
          <a:p xmlns:a="http://schemas.openxmlformats.org/drawingml/2006/main">
            <a:pPr>
              <a:def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• latency, fallback и failures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23FB36-3AAB-45FF-8382-F65E5BBB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72150"/>
            <a:ext cx="115157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9525">
            <a:solidFill>
              <a:srgbClr val="FF00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1100C7-3517-488A-A78F-54E4E546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67400"/>
            <a:ext cx="1109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Корректный вывод: сравниваем переговорные когнитивные навыки в заданной среде. Это не рейтинг общего интеллекта LLM.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2026-09-28T21:28:15.5410000Z</dcterms:created>
  <dcterms:modified xsi:type="dcterms:W3CDTF">2026-09-28T21:28:15.5410000Z</dcterms:modified>
</coreProperties>
</file>