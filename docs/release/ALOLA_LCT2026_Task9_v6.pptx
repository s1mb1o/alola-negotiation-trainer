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7c9cf636424dc7" /><Relationship Type="http://schemas.openxmlformats.org/officeDocument/2006/relationships/extended-properties" Target="/docProps/app.xml" Id="R86fbb1a87d3c4998" /><Relationship Type="http://schemas.openxmlformats.org/officeDocument/2006/relationships/officeDocument" Target="/ppt/presentation.xml" Id="Ra2592aa6887f4a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429027ac2847bb"/>
  </p:sldMasterIdLst>
  <p:notesMasterIdLst>
    <p:notesMasterId xmlns:r="http://schemas.openxmlformats.org/officeDocument/2006/relationships" r:id="Rcdacdf6e86304a68"/>
  </p:notesMasterIdLst>
  <p:sldIdLst>
    <p:sldId xmlns:r="http://schemas.openxmlformats.org/officeDocument/2006/relationships" id="256" r:id="R83fde1fa58f54609"/>
    <p:sldId xmlns:r="http://schemas.openxmlformats.org/officeDocument/2006/relationships" id="257" r:id="R3983965c1bd2489d"/>
    <p:sldId xmlns:r="http://schemas.openxmlformats.org/officeDocument/2006/relationships" id="258" r:id="R1c9578dd077c45a7"/>
    <p:sldId xmlns:r="http://schemas.openxmlformats.org/officeDocument/2006/relationships" id="259" r:id="R4d3f0ccaf5484b24"/>
    <p:sldId xmlns:r="http://schemas.openxmlformats.org/officeDocument/2006/relationships" id="260" r:id="R746ed57c40a643e9"/>
    <p:sldId xmlns:r="http://schemas.openxmlformats.org/officeDocument/2006/relationships" id="261" r:id="R58b4fe903019468c"/>
    <p:sldId xmlns:r="http://schemas.openxmlformats.org/officeDocument/2006/relationships" id="262" r:id="Rbe32fe3041534621"/>
    <p:sldId xmlns:r="http://schemas.openxmlformats.org/officeDocument/2006/relationships" id="263" r:id="R57299c91f4874b19"/>
    <p:sldId xmlns:r="http://schemas.openxmlformats.org/officeDocument/2006/relationships" id="264" r:id="R3a7976e353ff435d"/>
    <p:sldId xmlns:r="http://schemas.openxmlformats.org/officeDocument/2006/relationships" id="265" r:id="R7572b18175aa4b05"/>
    <p:sldId xmlns:r="http://schemas.openxmlformats.org/officeDocument/2006/relationships" id="266" r:id="Rbcf8d95ee2e34cbe"/>
    <p:sldId xmlns:r="http://schemas.openxmlformats.org/officeDocument/2006/relationships" id="267" r:id="R5a049b7301b944ef"/>
    <p:sldId xmlns:r="http://schemas.openxmlformats.org/officeDocument/2006/relationships" id="268" r:id="Rddea3a2f106e4252"/>
    <p:sldId xmlns:r="http://schemas.openxmlformats.org/officeDocument/2006/relationships" id="269" r:id="Rbe2897aa12a74bec"/>
    <p:sldId xmlns:r="http://schemas.openxmlformats.org/officeDocument/2006/relationships" id="270" r:id="R12a8a6b1e4864d9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4eea5f93e4150" /><Relationship Type="http://schemas.openxmlformats.org/officeDocument/2006/relationships/slideMaster" Target="/ppt/slideMasters/slideMaster1.xml" Id="R5c429027ac2847bb" /><Relationship Type="http://schemas.openxmlformats.org/officeDocument/2006/relationships/notesMaster" Target="/ppt/notesMasters/notesMaster1.xml" Id="Rcdacdf6e86304a68" /><Relationship Type="http://schemas.openxmlformats.org/officeDocument/2006/relationships/presProps" Target="/ppt/presProps.xml" Id="Rfad0dde116104416" /><Relationship Type="http://schemas.openxmlformats.org/officeDocument/2006/relationships/viewProps" Target="/ppt/viewProps.xml" Id="R10a72958e2e849d2" /><Relationship Type="http://schemas.openxmlformats.org/officeDocument/2006/relationships/tableStyles" Target="/ppt/tableStyles.xml" Id="R4a641d135d664671" /><Relationship Type="http://schemas.openxmlformats.org/officeDocument/2006/relationships/slide" Target="/ppt/slides/slide1.xml" Id="R83fde1fa58f54609" /><Relationship Type="http://schemas.openxmlformats.org/officeDocument/2006/relationships/slide" Target="/ppt/slides/slide2.xml" Id="R3983965c1bd2489d" /><Relationship Type="http://schemas.openxmlformats.org/officeDocument/2006/relationships/slide" Target="/ppt/slides/slide3.xml" Id="R1c9578dd077c45a7" /><Relationship Type="http://schemas.openxmlformats.org/officeDocument/2006/relationships/slide" Target="/ppt/slides/slide4.xml" Id="R4d3f0ccaf5484b24" /><Relationship Type="http://schemas.openxmlformats.org/officeDocument/2006/relationships/slide" Target="/ppt/slides/slide5.xml" Id="R746ed57c40a643e9" /><Relationship Type="http://schemas.openxmlformats.org/officeDocument/2006/relationships/slide" Target="/ppt/slides/slide6.xml" Id="R58b4fe903019468c" /><Relationship Type="http://schemas.openxmlformats.org/officeDocument/2006/relationships/slide" Target="/ppt/slides/slide7.xml" Id="Rbe32fe3041534621" /><Relationship Type="http://schemas.openxmlformats.org/officeDocument/2006/relationships/slide" Target="/ppt/slides/slide8.xml" Id="R57299c91f4874b19" /><Relationship Type="http://schemas.openxmlformats.org/officeDocument/2006/relationships/slide" Target="/ppt/slides/slide9.xml" Id="R3a7976e353ff435d" /><Relationship Type="http://schemas.openxmlformats.org/officeDocument/2006/relationships/slide" Target="/ppt/slides/slide10.xml" Id="R7572b18175aa4b05" /><Relationship Type="http://schemas.openxmlformats.org/officeDocument/2006/relationships/slide" Target="/ppt/slides/slide11.xml" Id="Rbcf8d95ee2e34cbe" /><Relationship Type="http://schemas.openxmlformats.org/officeDocument/2006/relationships/slide" Target="/ppt/slides/slide12.xml" Id="R5a049b7301b944ef" /><Relationship Type="http://schemas.openxmlformats.org/officeDocument/2006/relationships/slide" Target="/ppt/slides/slide13.xml" Id="Rddea3a2f106e4252" /><Relationship Type="http://schemas.openxmlformats.org/officeDocument/2006/relationships/slide" Target="/ppt/slides/slide14.xml" Id="Rbe2897aa12a74bec" /><Relationship Type="http://schemas.openxmlformats.org/officeDocument/2006/relationships/slide" Target="/ppt/slides/slide15.xml" Id="R12a8a6b1e486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44b7acc47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b1305fa6dc4947" /><Relationship Type="http://schemas.openxmlformats.org/officeDocument/2006/relationships/notesMaster" Target="/ppt/notesMasters/notesMaster1.xml" Id="R09684cfb725948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bd449aaac04f37" /><Relationship Type="http://schemas.openxmlformats.org/officeDocument/2006/relationships/notesMaster" Target="/ppt/notesMasters/notesMaster1.xml" Id="R381b9ef1b7bb4f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1d1191cc164eb7" /><Relationship Type="http://schemas.openxmlformats.org/officeDocument/2006/relationships/notesMaster" Target="/ppt/notesMasters/notesMaster1.xml" Id="R708a79c5de7642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fbc3e811694f19" /><Relationship Type="http://schemas.openxmlformats.org/officeDocument/2006/relationships/notesMaster" Target="/ppt/notesMasters/notesMaster1.xml" Id="R40c1924124c948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7d9b9414cc47a9" /><Relationship Type="http://schemas.openxmlformats.org/officeDocument/2006/relationships/notesMaster" Target="/ppt/notesMasters/notesMaster1.xml" Id="R3da9fa0bdeb348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79b9fab6aa42f6" /><Relationship Type="http://schemas.openxmlformats.org/officeDocument/2006/relationships/notesMaster" Target="/ppt/notesMasters/notesMaster1.xml" Id="Rdfe3e034a5434c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367f9b2db94fa3" /><Relationship Type="http://schemas.openxmlformats.org/officeDocument/2006/relationships/notesMaster" Target="/ppt/notesMasters/notesMaster1.xml" Id="R21a9ca99eef149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a16d0c5d3404e" /><Relationship Type="http://schemas.openxmlformats.org/officeDocument/2006/relationships/notesMaster" Target="/ppt/notesMasters/notesMaster1.xml" Id="Re998b7614f164b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142adf1f614d73" /><Relationship Type="http://schemas.openxmlformats.org/officeDocument/2006/relationships/notesMaster" Target="/ppt/notesMasters/notesMaster1.xml" Id="R20b3dd27ec9d4ef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82d901fe474428" /><Relationship Type="http://schemas.openxmlformats.org/officeDocument/2006/relationships/notesMaster" Target="/ppt/notesMasters/notesMaster1.xml" Id="R570f54085ee242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896a7027f544c3" /><Relationship Type="http://schemas.openxmlformats.org/officeDocument/2006/relationships/notesMaster" Target="/ppt/notesMasters/notesMaster1.xml" Id="Ref707c87d75948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ab4e58c3414b68" /><Relationship Type="http://schemas.openxmlformats.org/officeDocument/2006/relationships/notesMaster" Target="/ppt/notesMasters/notesMaster1.xml" Id="R5498ccc0dd7540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c8a35cf9834368" /><Relationship Type="http://schemas.openxmlformats.org/officeDocument/2006/relationships/notesMaster" Target="/ppt/notesMasters/notesMaster1.xml" Id="R0342b1fcbe2941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c7dd23ad744afa" /><Relationship Type="http://schemas.openxmlformats.org/officeDocument/2006/relationships/notesMaster" Target="/ppt/notesMasters/notesMaster1.xml" Id="Rfbbd4a100338495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7983fc7f324e11" /><Relationship Type="http://schemas.openxmlformats.org/officeDocument/2006/relationships/notesMaster" Target="/ppt/notesMasters/notesMaster1.xml" Id="R0775003a6bdf4c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ALOLA. Конкурсная презентация по задаче № 9.</a:t>
            </a:r>
          </a:p>
          <a:p xmlns:a="http://schemas.openxmlformats.org/drawingml/2006/main">
            <a:r>
              <a:t>Визуальный ритм основан на референсе arena-presentation.pdf.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alola-negotiation-trainer/README.md.</a:t>
            </a:r>
            <a:endParaRPr/>
          </a:p>
          <a:p xmlns:a="http://schemas.openxmlformats.org/drawingml/2006/main">
            <a:r>
              <a:t>Источник: официальное техническое задание, разделы 1, 2 и 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alola-negotiation-trainer/docs/architecture.md.</a:t>
            </a:r>
          </a:p>
          <a:p xmlns:a="http://schemas.openxmlformats.org/drawingml/2006/main">
            <a:r>
              <a:t>Источник: alola-negotiation-trainer/docs/api.md.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Снимки получены 2026-09-29 из локального ALOLA в template-only режиме.</a:t>
            </a:r>
          </a:p>
          <a:p xmlns:a="http://schemas.openxmlformats.org/drawingml/2006/main">
            <a:r>
              <a:t>Внешние LLM-вызовы не использовались.</a:t>
            </a:r>
          </a:p>
          <a:p xmlns:a="http://schemas.openxmlformats.org/drawingml/2006/main">
            <a:r>
              <a:t>Показан честный исход без сделки. Выход сам по себе не считается успехом или неудачей.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alola-negotiation-trainer/examples/.</a:t>
            </a:r>
          </a:p>
          <a:p xmlns:a="http://schemas.openxmlformats.org/drawingml/2006/main">
            <a:r>
              <a:t>Источник: alola-negotiation-trainer/docs/human-training-guide.md.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alola-negotiation-trainer/docs/decisions/2026-09-26_negotiation-methodologies.md.</a:t>
            </a:r>
            <a:endParaRPr/>
          </a:p>
          <a:p xmlns:a="http://schemas.openxmlformats.org/drawingml/2006/main">
            <a:r>
              <a:t>BATNA и reservation utility хранятся как разные понятия.</a:t>
            </a:r>
            <a:endParaRPr/>
          </a:p>
          <a:p xmlns:a="http://schemas.openxmlformats.org/drawingml/2006/main">
            <a:r>
              <a:t>Тактики Восса используются как опциональные речевые приёмы.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alola-negotiation-trainer/scripts/run-qwen-api.zsh.</a:t>
            </a:r>
          </a:p>
          <a:p xmlns:a="http://schemas.openxmlformats.org/drawingml/2006/main">
            <a:r>
              <a:t>Источник: docs/reports/2026-08-29-full-llm-matrix.md.</a:t>
            </a:r>
          </a:p>
          <a:p xmlns:a="http://schemas.openxmlformats.org/drawingml/2006/main">
            <a:r>
              <a:t>Сравнение относится к переговорной задаче. Оно не является оценкой общего интеллекта.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alola-negotiation-trainer/backend/app/training.py.</a:t>
            </a:r>
            <a:endParaRPr/>
          </a:p>
          <a:p xmlns:a="http://schemas.openxmlformats.org/drawingml/2006/main">
            <a:r>
              <a:t>Источник: alola-negotiation-trainer/docs/human-training-guide.md.</a:t>
            </a:r>
            <a:endParaRPr/>
          </a:p>
          <a:p xmlns:a="http://schemas.openxmlformats.org/drawingml/2006/main">
            <a:r>
              <a:t>Гуффи проверяет уместное использование личного контекста. Этот факт не меняет utility, BATNA, порог или условия сделки.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alola-negotiation-trainer/backend/tests/test_release_journey.py.</a:t>
            </a:r>
          </a:p>
          <a:p xmlns:a="http://schemas.openxmlformats.org/drawingml/2006/main">
            <a:r>
              <a:t>Первый проверенный результат: utility 26.</a:t>
            </a:r>
          </a:p>
          <a:p xmlns:a="http://schemas.openxmlformats.org/drawingml/2006/main">
            <a:r>
              <a:t>Результат дочерней ветки: utility 70.</a:t>
            </a:r>
          </a:p>
          <a:p xmlns:a="http://schemas.openxmlformats.org/drawingml/2006/main">
            <a:r>
              <a:t>comparison.utility_delta равен 44.</a:t>
            </a:r>
          </a:p>
          <a:p xmlns:a="http://schemas.openxmlformats.org/drawingml/2006/main">
            <a:r>
              <a:t>comparison.same_initial_conditions_at_checkpoint равен true.</a:t>
            </a:r>
          </a:p>
          <a:p xmlns:a="http://schemas.openxmlformats.org/drawingml/2006/main">
            <a:r>
              <a:t>comparison.causal_improvement_claim равен 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статус: Player API и CLI self-play реализованы.</a:t>
            </a:r>
            <a:endParaRPr/>
          </a:p>
          <a:p xmlns:a="http://schemas.openxmlformats.org/drawingml/2006/main">
            <a:r>
              <a:t>MCP-адаптер в продукте не реализован. На слайде он обозначен как MCP-ready следующий интерфейс.</a:t>
            </a:r>
            <a:endParaRPr/>
          </a:p>
          <a:p xmlns:a="http://schemas.openxmlformats.org/drawingml/2006/main">
            <a:r>
              <a:t>Источник: alola-negotiation-trainer/docs/api.md.</a:t>
            </a:r>
            <a:endParaRPr/>
          </a:p>
          <a:p xmlns:a="http://schemas.openxmlformats.org/drawingml/2006/main">
            <a:r>
              <a:t>Источник: docs/reports/2026-08-29-full-llm-matrix.md.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deploy/deployment-record.md.</a:t>
            </a:r>
          </a:p>
          <a:p xmlns:a="http://schemas.openxmlformats.org/drawingml/2006/main">
            <a:r>
              <a:t>Пароль жюри передаётся отдельным каналом и не включён в презентацию.</a:t>
            </a:r>
          </a:p>
          <a:p xmlns:a="http://schemas.openxmlformats.org/drawingml/2006/main">
            <a:r>
              <a:t>Стенд подходит для контролируемого доступа жюри. Он не заявлен как массовый production-сервис.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Пилотный дизайн является следующим шагом, а не результатом уже проведённого исследования.</a:t>
            </a:r>
            <a:endParaRPr/>
          </a:p>
          <a:p xmlns:a="http://schemas.openxmlformats.org/drawingml/2006/main">
            <a:r>
              <a:t>ALOLA не заявляет измеренный рост навыка до проведения отдельной оценки.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ccb8b678c4d1e" /><Relationship Type="http://schemas.openxmlformats.org/officeDocument/2006/relationships/image" Target="/ppt/media/image2.png" Id="R403aeacaf27a42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8a87fc12a40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3f68cea934d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b82e7d1ea4c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e2699277c943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c0131414045b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abb60fa85455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19c49f3dda40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89e9ac5686415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0d093131247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669575e93438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059c93765b407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0aa0c0de04a66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7d1128e7c4436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2f28c23a1a49e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30950d7cba4e5b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3ba03f7c5a444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920a4741a423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84798bbbd043f5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e75d9adb148f5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6191f1f2374c2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13b3fa040491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681c5da864638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403aeacaf27a42c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/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233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71304484c75c4708" /><Relationship Type="http://schemas.openxmlformats.org/officeDocument/2006/relationships/theme" Target="/ppt/slideMasters/theme/theme2.xml" Id="Rde53c58dc33f4106" /><Relationship Type="http://schemas.openxmlformats.org/officeDocument/2006/relationships/slideLayout" Target="/ppt/slideLayouts/slideLayout1.xml" Id="Rff44db2127db4fb7" /><Relationship Type="http://schemas.openxmlformats.org/officeDocument/2006/relationships/slideLayout" Target="/ppt/slideLayouts/slideLayout2.xml" Id="R7f881d5cf75b497b" /><Relationship Type="http://schemas.openxmlformats.org/officeDocument/2006/relationships/slideLayout" Target="/ppt/slideLayouts/slideLayout3.xml" Id="R5acd390b2f8b4316" /><Relationship Type="http://schemas.openxmlformats.org/officeDocument/2006/relationships/slideLayout" Target="/ppt/slideLayouts/slideLayout4.xml" Id="R83bba8b4e8b24047" /><Relationship Type="http://schemas.openxmlformats.org/officeDocument/2006/relationships/slideLayout" Target="/ppt/slideLayouts/slideLayout5.xml" Id="Rffb6c352203c44eb" /><Relationship Type="http://schemas.openxmlformats.org/officeDocument/2006/relationships/slideLayout" Target="/ppt/slideLayouts/slideLayout6.xml" Id="R7858c902934641a5" /><Relationship Type="http://schemas.openxmlformats.org/officeDocument/2006/relationships/slideLayout" Target="/ppt/slideLayouts/slideLayout7.xml" Id="Rda37060fee134f73" /><Relationship Type="http://schemas.openxmlformats.org/officeDocument/2006/relationships/slideLayout" Target="/ppt/slideLayouts/slideLayout8.xml" Id="R0a251bdd346b4c6e" /><Relationship Type="http://schemas.openxmlformats.org/officeDocument/2006/relationships/slideLayout" Target="/ppt/slideLayouts/slideLayout9.xml" Id="R4be7b2eba4cb4a0c" /><Relationship Type="http://schemas.openxmlformats.org/officeDocument/2006/relationships/slideLayout" Target="/ppt/slideLayouts/slideLayout10.xml" Id="Rdda34067db88480d" /><Relationship Type="http://schemas.openxmlformats.org/officeDocument/2006/relationships/slideLayout" Target="/ppt/slideLayouts/slideLayout11.xml" Id="R896c28c3b19d4a84" /><Relationship Type="http://schemas.openxmlformats.org/officeDocument/2006/relationships/slideLayout" Target="/ppt/slideLayouts/slideLayout12.xml" Id="Re3435f42e80b47ca" /><Relationship Type="http://schemas.openxmlformats.org/officeDocument/2006/relationships/slideLayout" Target="/ppt/slideLayouts/slideLayout13.xml" Id="R119cea9d381b46d9" /><Relationship Type="http://schemas.openxmlformats.org/officeDocument/2006/relationships/slideLayout" Target="/ppt/slideLayouts/slideLayout14.xml" Id="R2418de1afeed400d" /><Relationship Type="http://schemas.openxmlformats.org/officeDocument/2006/relationships/slideLayout" Target="/ppt/slideLayouts/slideLayout15.xml" Id="Re3fe102110ae4d67" /><Relationship Type="http://schemas.openxmlformats.org/officeDocument/2006/relationships/slideLayout" Target="/ppt/slideLayouts/slideLayout16.xml" Id="Ra1e0351375104b72" /><Relationship Type="http://schemas.openxmlformats.org/officeDocument/2006/relationships/slideLayout" Target="/ppt/slideLayouts/slideLayout17.xml" Id="R45da27aba64e4554" /><Relationship Type="http://schemas.openxmlformats.org/officeDocument/2006/relationships/slideLayout" Target="/ppt/slideLayouts/slideLayout18.xml" Id="Rc024a7f499d54dc4" /><Relationship Type="http://schemas.openxmlformats.org/officeDocument/2006/relationships/slideLayout" Target="/ppt/slideLayouts/slideLayout19.xml" Id="Rc2f59d12d97d44c9" /><Relationship Type="http://schemas.openxmlformats.org/officeDocument/2006/relationships/slideLayout" Target="/ppt/slideLayouts/slideLayout20.xml" Id="R130a5984aaaa4132" /><Relationship Type="http://schemas.openxmlformats.org/officeDocument/2006/relationships/slideLayout" Target="/ppt/slideLayouts/slideLayout21.xml" Id="Rbed94001d98e45d5" /><Relationship Type="http://schemas.openxmlformats.org/officeDocument/2006/relationships/slideLayout" Target="/ppt/slideLayouts/slideLayout22.xml" Id="R01413d0be8e14275" /><Relationship Type="http://schemas.openxmlformats.org/officeDocument/2006/relationships/slideLayout" Target="/ppt/slideLayouts/slideLayout23.xml" Id="R1c35a67e85dd4633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304484c75c47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44db2127db4fb7"/>
    <p:sldLayoutId xmlns:r="http://schemas.openxmlformats.org/officeDocument/2006/relationships" id="2147483650" r:id="R7f881d5cf75b497b"/>
    <p:sldLayoutId xmlns:r="http://schemas.openxmlformats.org/officeDocument/2006/relationships" id="2147483651" r:id="R5acd390b2f8b4316"/>
    <p:sldLayoutId xmlns:r="http://schemas.openxmlformats.org/officeDocument/2006/relationships" id="2147483652" r:id="R83bba8b4e8b24047"/>
    <p:sldLayoutId xmlns:r="http://schemas.openxmlformats.org/officeDocument/2006/relationships" id="2147483653" r:id="Rffb6c352203c44eb"/>
    <p:sldLayoutId xmlns:r="http://schemas.openxmlformats.org/officeDocument/2006/relationships" id="2147483654" r:id="R7858c902934641a5"/>
    <p:sldLayoutId xmlns:r="http://schemas.openxmlformats.org/officeDocument/2006/relationships" id="2147483655" r:id="Rda37060fee134f73"/>
    <p:sldLayoutId xmlns:r="http://schemas.openxmlformats.org/officeDocument/2006/relationships" id="2147483656" r:id="R0a251bdd346b4c6e"/>
    <p:sldLayoutId xmlns:r="http://schemas.openxmlformats.org/officeDocument/2006/relationships" id="2147483657" r:id="R4be7b2eba4cb4a0c"/>
    <p:sldLayoutId xmlns:r="http://schemas.openxmlformats.org/officeDocument/2006/relationships" id="2147483658" r:id="Rdda34067db88480d"/>
    <p:sldLayoutId xmlns:r="http://schemas.openxmlformats.org/officeDocument/2006/relationships" id="2147483659" r:id="R896c28c3b19d4a84"/>
    <p:sldLayoutId xmlns:r="http://schemas.openxmlformats.org/officeDocument/2006/relationships" id="2147483660" r:id="Re3435f42e80b47ca"/>
    <p:sldLayoutId xmlns:r="http://schemas.openxmlformats.org/officeDocument/2006/relationships" id="2147483661" r:id="R119cea9d381b46d9"/>
    <p:sldLayoutId xmlns:r="http://schemas.openxmlformats.org/officeDocument/2006/relationships" id="2147483662" r:id="R2418de1afeed400d"/>
    <p:sldLayoutId xmlns:r="http://schemas.openxmlformats.org/officeDocument/2006/relationships" id="2147483663" r:id="Re3fe102110ae4d67"/>
    <p:sldLayoutId xmlns:r="http://schemas.openxmlformats.org/officeDocument/2006/relationships" id="2147483664" r:id="Ra1e0351375104b72"/>
    <p:sldLayoutId xmlns:r="http://schemas.openxmlformats.org/officeDocument/2006/relationships" id="2147483665" r:id="R45da27aba64e4554"/>
    <p:sldLayoutId xmlns:r="http://schemas.openxmlformats.org/officeDocument/2006/relationships" id="2147483666" r:id="Rc024a7f499d54dc4"/>
    <p:sldLayoutId xmlns:r="http://schemas.openxmlformats.org/officeDocument/2006/relationships" id="2147483667" r:id="Rc2f59d12d97d44c9"/>
    <p:sldLayoutId xmlns:r="http://schemas.openxmlformats.org/officeDocument/2006/relationships" id="2147483668" r:id="R130a5984aaaa4132"/>
    <p:sldLayoutId xmlns:r="http://schemas.openxmlformats.org/officeDocument/2006/relationships" id="2147483669" r:id="Rbed94001d98e45d5"/>
    <p:sldLayoutId xmlns:r="http://schemas.openxmlformats.org/officeDocument/2006/relationships" id="2147483670" r:id="R01413d0be8e14275"/>
    <p:sldLayoutId xmlns:r="http://schemas.openxmlformats.org/officeDocument/2006/relationships" id="2147483671" r:id="R1c35a67e85dd4633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982ed5451c49a7" /><Relationship Type="http://schemas.openxmlformats.org/officeDocument/2006/relationships/notesSlide" Target="/ppt/notesSlides/notesSlide1.xml" Id="R4b9fca559a2c4b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0510b9e3394552" /><Relationship Type="http://schemas.openxmlformats.org/officeDocument/2006/relationships/image" Target="/ppt/media/image3.png" Id="R27b3f819dfd84729" /><Relationship Type="http://schemas.openxmlformats.org/officeDocument/2006/relationships/image" Target="/ppt/media/image4.png" Id="R2bed159a99e94a06" /><Relationship Type="http://schemas.openxmlformats.org/officeDocument/2006/relationships/image" Target="/ppt/media/image5.png" Id="R51160862f1ce46b0" /><Relationship Type="http://schemas.openxmlformats.org/officeDocument/2006/relationships/notesSlide" Target="/ppt/notesSlides/notesSlide2.xml" Id="R885fc6202a9440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84b5d362064ce3" /><Relationship Type="http://schemas.openxmlformats.org/officeDocument/2006/relationships/image" Target="/ppt/media/image.png" Id="R075e6f04b817420c" /><Relationship Type="http://schemas.openxmlformats.org/officeDocument/2006/relationships/notesSlide" Target="/ppt/notesSlides/notesSlide3.xml" Id="R8256071163e04b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2c39d54cfcb40e6" /><Relationship Type="http://schemas.openxmlformats.org/officeDocument/2006/relationships/image" Target="/ppt/media/image6.png" Id="Re914ced1490642fc" /><Relationship Type="http://schemas.openxmlformats.org/officeDocument/2006/relationships/notesSlide" Target="/ppt/notesSlides/notesSlide4.xml" Id="Rde7bc69c6fd34c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8c540ac4c9a4344" /><Relationship Type="http://schemas.openxmlformats.org/officeDocument/2006/relationships/image" Target="/ppt/media/image.png" Id="R5d3f21e6f40b4770" /><Relationship Type="http://schemas.openxmlformats.org/officeDocument/2006/relationships/notesSlide" Target="/ppt/notesSlides/notesSlide5.xml" Id="Rbf3302f5cb4549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2f5fe1754a24106" /><Relationship Type="http://schemas.openxmlformats.org/officeDocument/2006/relationships/image" Target="/ppt/media/image3.png" Id="R8ccb8247224b44af" /><Relationship Type="http://schemas.openxmlformats.org/officeDocument/2006/relationships/notesSlide" Target="/ppt/notesSlides/notesSlide6.xml" Id="R6932ccffbf1d43c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f00d4470b5f044c5" /><Relationship Type="http://schemas.openxmlformats.org/officeDocument/2006/relationships/image" Target="/ppt/media/image3.png" Id="Rf7034f67c6ef468c" /><Relationship Type="http://schemas.openxmlformats.org/officeDocument/2006/relationships/image" Target="/ppt/media/image7.png" Id="Rcd544d32193c48e5" /><Relationship Type="http://schemas.openxmlformats.org/officeDocument/2006/relationships/image" Target="/ppt/media/image8.png" Id="R386a8cc1037b4a8e" /><Relationship Type="http://schemas.openxmlformats.org/officeDocument/2006/relationships/image" Target="/ppt/media/image9.png" Id="Rbc9174f80320420b" /><Relationship Type="http://schemas.openxmlformats.org/officeDocument/2006/relationships/notesSlide" Target="/ppt/notesSlides/notesSlide7.xml" Id="R27e56e58f918465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b5c218d694349db" /><Relationship Type="http://schemas.openxmlformats.org/officeDocument/2006/relationships/image" Target="/ppt/media/image3.png" Id="R26ab84fd2c0b4110" /><Relationship Type="http://schemas.openxmlformats.org/officeDocument/2006/relationships/notesSlide" Target="/ppt/notesSlides/notesSlide8.xml" Id="Rcbc605bde66242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41c9f95a9b54132" /><Relationship Type="http://schemas.openxmlformats.org/officeDocument/2006/relationships/image" Target="/ppt/media/image6.png" Id="R57c28d44595740be" /><Relationship Type="http://schemas.openxmlformats.org/officeDocument/2006/relationships/notesSlide" Target="/ppt/notesSlides/notesSlide9.xml" Id="R6bb7975036f442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1923485f5fa4ce7" /><Relationship Type="http://schemas.openxmlformats.org/officeDocument/2006/relationships/image" Target="/ppt/media/image.png" Id="Rdde96afef10c4355" /><Relationship Type="http://schemas.openxmlformats.org/officeDocument/2006/relationships/notesSlide" Target="/ppt/notesSlides/notesSlide10.xml" Id="Rfc693d3884e54e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dbe673d8391458d" /><Relationship Type="http://schemas.openxmlformats.org/officeDocument/2006/relationships/image" Target="/ppt/media/image6.png" Id="Rdecb6157b6db4737" /><Relationship Type="http://schemas.openxmlformats.org/officeDocument/2006/relationships/notesSlide" Target="/ppt/notesSlides/notesSlide11.xml" Id="R529c53a1a7a540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051cc3f28534ff0" /><Relationship Type="http://schemas.openxmlformats.org/officeDocument/2006/relationships/image" Target="/ppt/media/image.png" Id="Rf9bdc7367fbd4637" /><Relationship Type="http://schemas.openxmlformats.org/officeDocument/2006/relationships/notesSlide" Target="/ppt/notesSlides/notesSlide12.xml" Id="R6d0532882f0f44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1da721d192411e" /><Relationship Type="http://schemas.openxmlformats.org/officeDocument/2006/relationships/image" Target="/ppt/media/image6.png" Id="Raca052cc14974351" /><Relationship Type="http://schemas.openxmlformats.org/officeDocument/2006/relationships/notesSlide" Target="/ppt/notesSlides/notesSlide13.xml" Id="Rc6ce043d0fba45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baffe455789445e" /><Relationship Type="http://schemas.openxmlformats.org/officeDocument/2006/relationships/image" Target="/ppt/media/image.png" Id="Rd1b6fde1105c4fb5" /><Relationship Type="http://schemas.openxmlformats.org/officeDocument/2006/relationships/notesSlide" Target="/ppt/notesSlides/notesSlide14.xml" Id="R37b99f8434274a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f561d2376f14e9e" /><Relationship Type="http://schemas.openxmlformats.org/officeDocument/2006/relationships/image" Target="/ppt/media/image6.png" Id="R97923cd463d04abe" /><Relationship Type="http://schemas.openxmlformats.org/officeDocument/2006/relationships/notesSlide" Target="/ppt/notesSlides/notesSlide15.xml" Id="R7604b5899e8740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F16929-429A-41B0-B1E7-E4AAD2C8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861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ЗАДАЧА № 9  /  ALOLA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6AC8E-CBFC-4BCE-88DF-E86F1456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05200"/>
            <a:ext cx="63817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Переговоры,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которые можно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переиграть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5D9BA-170E-48EB-B57E-817E939E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81675"/>
            <a:ext cx="466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F3ABC-B982-4283-9AF3-CA9F327D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62650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AI-first тренажёр для людей и переговорных агентов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7b3f819dfd8472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79839-9B71-4EDD-9895-6C1DCB3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КОМАНДА /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36150-38B5-4D25-8AA9-5216F69E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Команда соединяет обучение и реальную практику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7E238-F084-45EB-AA6C-BF2BBA78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ed159a99e94a06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7907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60862f1ce46b0"/>
          <a:srcRect xmlns:a="http://schemas.openxmlformats.org/drawingml/2006/main" l="0" t="459" r="0" b="4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1790700"/>
            <a:ext cx="2000250" cy="24765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52C1C-835C-4124-B30D-16F2DE22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577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Шмелева Ольга Васильевна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70B35-41BB-4818-AFF1-DD667F80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720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преподаватель ВАВТ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деловой английский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3F4993-1918-49D5-9E61-6011EA86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57700"/>
            <a:ext cx="2143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Головатюк Виталий Владмирович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F66B4C-E112-420C-A5C1-8F067D09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72050"/>
            <a:ext cx="2143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предприниматель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кандидат юридических наук</a:t>
            </a:r>
          </a:p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ветеран МВД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E205B4-8CF0-42BB-B8B2-AA382684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0002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F8CA1-2B98-4945-9137-3FDD76D0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Безопасная практика переговоров с живым диалогом, структурированной сделкой и разбором по фактам.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5D1485-933D-4ECD-ACBF-B7A49C6C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5286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Движок контролирует экономику и ограничения. LLM отвечает за естественный язык.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942E4-6DEC-42DD-850D-955685E6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ABE21-F720-4FEB-BB03-C3BB0CC1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Два эксперта формируют методику, сценарии, проверку рисков и критерии разбора.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5e6f04b817420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8EF00-0744-4651-A002-2143415B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ЦЕННОСТЬ /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B80B7-371A-4000-8995-DB80C336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 добавляет проверяемую сделку и точный повтор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8F199-E7B3-4F67-8409-02E63CC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D9F12-C65D-43D1-88D5-E428F67B3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AD0B6-7A4A-4F9C-B47C-56F3AEF4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Лекция и кейс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90937-3911-4CA6-8175-96076C2C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352675"/>
            <a:ext cx="440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Объясняют технику. Не дают практики формулировок и последствий собственного решения.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63E44-133A-46BF-95BB-42C95D17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623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EAC6E-6B7F-4FE6-AB99-66E0C5B5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FA6CE-D34D-4670-8B1E-798E8144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Ролевая игра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D2B447-96A5-4875-AE36-12C5D7FA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440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Даёт живой разговор. Результат зависит от партнёра и преподавателя. Повтор трудно сравнить.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28BFB-E92A-49BF-982F-E09C41DF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62325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9BA66-1E89-4BFD-B8FA-7B3D75E6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5B81E-B6C3-4324-8116-C6C2E6A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Обычный LLM-чат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CAB8F-74B7-4A49-88A6-919339BB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67175"/>
            <a:ext cx="440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Создаёт естественную реплику. Не гарантирует стабильные условия, ограничения и итог сделки.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613A6-F176-4E33-86AD-897E75B1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85A64-DFF2-4CE2-82A6-78EDBBD7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6BCAA3-C2C3-43C7-9598-F5B4A8D8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67175"/>
            <a:ext cx="4400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Связывает живой диалог, валидированную сделку, журнал событий, точный повтор и сравнение веток.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933D0-255A-48AE-A823-73272E82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911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РЕАЛИСТИЧНЫЙ ДИАЛОГ СТАНОВИТСЯ ПРОВЕРЯЕМОЙ УЧЕБНОЙ СЕССИЕЙ.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14ced1490642f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0DEA0-6F36-4551-B31D-F8BB681C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ПРОБЛЕМА /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E2889F-7147-4DF0-98C1-A3F035D4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Закупщикам, продавцам и руководителям нужна безопасная практика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C9C72-836A-4AF4-9F08-549033DF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01346-6FA6-40CC-8A67-B53F2E94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669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DC481-D686-4DE2-A7E0-006701D0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85737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Реальный разговор дорог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31542-26C8-4B6C-8ABA-B5019938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669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Ошибка в цене, сроке или обязательстве сразу влияет на результат.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F7D37-F4AC-4679-A904-CD69F1CE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33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9F69A-67A2-491D-A471-1EDA207C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575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91956-9E84-4AA7-9DEC-FAFDBAE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24802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Практику трудно повторить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45828-55EB-4B05-9456-784CCB8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Одинаковый кейс редко проходит в одинаковых условиях. Сравнение теряет смысл.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F4CAA-E5CD-4A17-83D0-3AF5AB1B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24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ADFBD-6FCA-42E2-BC5A-0109AC21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B362C-F95B-4181-BF91-196E82A4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638675"/>
            <a:ext cx="10020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Разбору не хватает фактов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A0BBCD-836B-44DC-8676-D3A3939E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048250"/>
            <a:ext cx="1002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После разговора сложно связать конкретный ход с изменением предложения и итогом.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040B2-D415-4CCB-AC7D-0501790F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B3CCC3-D0A2-435C-8D11-BA52F1F2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ALOLA создаёт повторяемую среду: ход, проверка, последствие, разбор.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d3f21e6f40b477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42FD9B-826B-4E9A-BE46-13EA1D1E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МЕХАНИКА /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3A871A-37BA-4462-A5C5-81EBD458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 разделяет экономику сделки и язык диалога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3D5D58-9ADE-497B-A59C-AFB27514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CDCCF-BED2-46F2-A289-A499A208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ДВИЖОК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BC463-6880-474C-AE2D-C05FCA1B8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7175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Проверяет полный пакет условий, utility, порог приемлемости и hard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4DBFA-76BB-49E1-BB06-88EAF8C8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52625"/>
            <a:ext cx="1905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64041-ECA0-442B-9B95-602340D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LLM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01652C-389A-4054-8472-4DABB4C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Формулирует реплику, поддерживает контекст и создаёт evidence-linked разбор.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8EAE7-6684-41F2-8D85-29DF6F9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Natural language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248FE-B65A-4E78-81C9-FA682A3C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49C83C-23AD-443E-81E5-F6FC38A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Typed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7CDCC-8B03-446D-B828-ACE987DF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CA8F2-ABEE-4BB8-BD9F-94843C07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767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Validated state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77AD1-A4E7-4EE5-B7E4-1373344F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410075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373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B3DBDE-42B8-41CC-96D9-BAC7944D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767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Event log +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D7815-28EA-4E1D-9C17-2332BA64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A5C44-D380-40EC-A489-1AFA9A92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Модель не может изменить условия сделки или подтвердить её в обход движка.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cb8247224b44a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28F47E-1A48-4C79-97B2-5D47B3DE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АРХИТЕКТУРА /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52121-1074-4B4E-A289-A29F8444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475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Свободный текст проходит через детерминированный движок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0710A-447A-4797-BB89-A566BBFC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CCB97-4512-4258-A333-1702CBE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0A63E-05C9-4519-B4CC-366189F8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Человек или агент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15CDF-DDFF-4239-9815-DC520A1F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natural language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90115-102A-44C9-9857-E7808C8E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D2D4A-38BD-4597-A1DB-E8E2082D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38CD3-E305-45C0-BBBC-93B913B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20AF3D-2AAE-45B5-9536-6A777985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один контракт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6B2DA-5892-4FBA-9860-ACED3F7C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AB4D9-BEAB-4C42-A9E4-8528694D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D47A8-1444-41CD-B355-396A4F92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Parser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46C1C-9D48-4D23-BBCD-174BB5F2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typed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124DF9-C54F-41C3-B1A4-9E366584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1FE9C-FE72-4720-A956-1216C0E2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77E61-FD5E-43B6-8D15-B65B6567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Validator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26D1C-C5C6-4682-BE7E-A1014117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constraints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691671-D719-4FF3-9E9F-EC9612EF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44F81-3E2D-4634-8BD0-10380B30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9525">
            <a:solidFill>
              <a:srgbClr val="52097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B93E87-3DE0-4BF7-8D4C-6A95213D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Engine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79EBF8-3E58-45E9-81CC-51A604D9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utility +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D0BAC-FB1D-4D06-A3C4-B064BAE2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283A8D-3DEA-4307-988B-B9B6836F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150909-045C-4433-AF05-9D81E42F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Event log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DAD35-4220-4EE4-8CBE-159A973C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sealed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0BC118-51FE-43C7-B6A0-1726A2F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647950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297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EA486F-10B6-4C0B-B750-70242291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333625"/>
            <a:ext cx="12573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621C2-2EC4-41DB-B92A-2A99E940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524125"/>
            <a:ext cx="1066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1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0C9B8-707E-4C0D-9C43-7D6C5FAA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981325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факты + повтор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8ED060-FDF1-49A8-A8A8-E148B77D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29075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ScenarioVersion хранит authored truth. Observation скрывает hidden state. Offer revision содержит полный пакет условий.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48D826-1EA4-46A4-A3AF-CFA9195A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046F8C-7EBC-4378-98E0-024BC114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Player API даёт людям и агентам одинаковые правила доступа к сценарию.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7034f67c6ef468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77116-DDE2-408B-809A-3AFBFBD5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ДЕМОНСТРАЦИЯ /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0FBBF-5889-48C3-872E-1334F64B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Путь пользователя помещается в одну сессию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A49BB-1FEC-4755-A554-14D403C5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44d32193c48e5"/>
          <a:srcRect xmlns:a="http://schemas.openxmlformats.org/drawingml/2006/main" l="11623" t="0" r="11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a8cc1037b4a8e"/>
          <a:srcRect xmlns:a="http://schemas.openxmlformats.org/drawingml/2006/main" l="11623" t="0" r="11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174f80320420b"/>
          <a:srcRect xmlns:a="http://schemas.openxmlformats.org/drawingml/2006/main" l="11623" t="0" r="11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4375" y="1809750"/>
            <a:ext cx="3333750" cy="2714625"/>
          </a:xfrm>
          <a:prstGeom xmlns:a="http://schemas.openxmlformats.org/drawingml/2006/main" prst="roundRect">
            <a:avLst>
              <a:gd name="adj" fmla="val 280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62DB1-39CA-4417-BF82-2E642232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1. Настройка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9FAFCE-D957-4325-8CEA-F5B790FB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Сценарий, роль, сложность, отношения и частный план.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0B03C-6575-4EEC-BFDB-7C8C4E61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2. Живой диалог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5AA54-F6CB-413A-AAAB-D1A169EA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1054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Свободный текст, встречное предложение и полная редакция условий.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43AC4-AEBC-4275-8487-B3A19DFA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2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3. Разбор и повтор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8A5D5-601A-4640-B0DF-05CCA125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10540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Итог, экономика, BATNA, доказательства и точка возврата.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CAD19-4CE5-4AA0-A26E-AE4A02D7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18FC8-9849-4E85-A061-4055CA78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Настройка контекста, переговоры и обратная связь уже работают в браузере.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6ab84fd2c0b411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A6E80-0A77-4F6C-81B8-C8EF4E2C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НАСТРОЙКА /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B77285-15EB-48E1-9033-6247B08D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Один движок обслуживает четыре переговорных домена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A0774-69B0-4618-8FD0-2BEB7E9A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DA287-2390-42CD-8E7E-50B7B49D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33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3DD7C-D332-4867-8E1C-56552AA3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812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сценариев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65073-A1B1-4180-90BD-0994ADFE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733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F64AE-63B6-494A-95D9-A72A89FA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1812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домена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0B7E5-45B8-43F5-8937-492CA431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733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RU / 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658E8-511A-4FDD-AADE-4E12E0A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1812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языки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63A36-3606-4D12-8E8F-AEA7D72C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33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4E330-1CD2-420D-8DFB-3BE1388B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1812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роли в каждом кейсе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523875" y="2647950"/>
          <a:ext xmlns:a="http://schemas.openxmlformats.org/drawingml/2006/main" cx="11144250" cy="3095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2663"/>
                <a:gridCol w="4651513"/>
                <a:gridCol w="4070074"/>
              </a:tblGrid>
              <a:tr h="457200">
                <a:tc>
                  <a:txBody>
                    <a:bodyPr/>
                    <a:lstStyle/>
                    <a:p>
                      <a:r>
                        <a:t>Настройка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Что меняется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Что остаётся защищённым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Сценарий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Сфера, роли, термины, ограничения и формула результата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Опубликованная версия не меняется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Роль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Приватный бриф, цели, BATNA и функция полезности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Скрытое состояние другой стороны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Сложность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Объём брифа, подсказки и отвлекающие факты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Экономические правила сделки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Профиль и отношения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Приветствие, тон и доступный личный контекст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Порог и жёсткие ограничения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t>План и подсказки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Цели ученика и поддержка по ходу разговора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Полномочия движка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99DED-9B24-476D-87F8-18190739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1A42B-30B3-40EC-8C18-1C1A41B0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Поставка, SaaS, перевозка и аренда офиса. Сценарии хранятся как неизменяемые версии.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7c28d44595740b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42305-2F69-4F25-9304-2BB1EAF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МЕТОДОЛОГИЯ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FDB74-F63E-4BCF-A4B2-4F075FE0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Методология задаёт, что считать хорошими переговорами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A80F0-1090-4311-9ADA-B7DF7331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8D5A6-C477-481F-B3F8-A5FBEFA1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2C51D-799E-43B8-9FEF-1160903D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Гарвардский метод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5F064-5BF5-44BB-9AF3-F9211F0A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3526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Интересы, варианты и объективные критерии отделяются от позиции.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6F59E-49D1-4164-A4B8-6E274447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5B035-3BBA-4C7A-99A3-B53F1B5A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239AD-0FB0-4D98-BB44-0CA804DC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9431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BATNA и порог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4E002-F6E6-4D34-AF9B-2218F1BA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BATNA описывает лучший исход без сделки. Порог задаёт минимально приемлемый результат.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ACEF0-9B63-41A8-9633-E9D1A8CD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E7313-72B6-4B31-9587-001EBB27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FF2FEB-02EE-4BF4-A464-009844E4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ZOPA и Pareto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A94B7-ADE1-49EF-8876-38B3B6D2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0671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Система ищет многомерные пакеты и отличает создание ценности от её распределения.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1DC9B-B485-46FD-A4A7-E878D876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667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DB1B2-5289-4CD4-BC04-18F8648A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5760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Тактики Восса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EDC9FB-D2E9-4AD9-A2B3-A14220CA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67175"/>
            <a:ext cx="4400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Labels, mirrors, summaries и вопросы «что» и «как» поддерживают процесс.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BAF26A-F082-4821-AA5B-4C85B97A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12080B-A39D-49C3-AEAA-953819D1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Движок выбирает допустимое действие. LLM формулирует его и связывает разбор с репликами.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e96afef10c435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69699-6D89-47F1-A343-B0D5DC29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LLM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4F028-6311-4429-940C-A314519E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Каждая LLM решает одну задачу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DEC20-5BD8-42D1-AF40-450A63CB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EC0DB-0712-4CBC-9227-C982A028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Настройка модели привязана к ожидаемому эффекту. Движок сохраняет контроль над сделкой.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5B2B9-F22C-4C57-92CA-F96C7874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ABDEA-AB91-45D3-9DAF-BDCE055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05050"/>
            <a:ext cx="11144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23875" y="2305050"/>
          <a:ext xmlns:a="http://schemas.openxmlformats.org/drawingml/2006/main" cx="111442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86063"/>
                <a:gridCol w="3231833"/>
                <a:gridCol w="5126355"/>
              </a:tblGrid>
              <a:tr h="514350">
                <a:tc>
                  <a:txBody>
                    <a:bodyPr/>
                    <a:lstStyle/>
                    <a:p>
                      <a:r>
                        <a:t>Задача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Модель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Ожидаемый эффект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Диалог NPC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deepseek-v4.1-flash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Быстрая естественная реплика. Thinking выключен. Grounding обязателен.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Control tasks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deepseek-v4-flash-0731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Структурная обработка. Действие проходит validator и engine.</a:t>
                      </a:r>
                    </a:p>
                  </a:txBody>
                  <a:tcPr marL="91440" marR="91440" marT="45720" marB="45720"/>
                </a:tc>
              </a:tr>
              <a:tr h="781050">
                <a:tc>
                  <a:txBody>
                    <a:bodyPr/>
                    <a:lstStyle/>
                    <a:p>
                      <a:r>
                        <a:t>Итоговый 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qwen3.8-max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Редкий глубокий разбор по sealed transcript и evidence.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3C28C-2012-4148-B741-FFA2BEBE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9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11 моделей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E30F0A-5C4A-4BC0-A562-37BC3DFF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95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220 fresh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AE97A2-375B-490D-BBF8-5DE00A2C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495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role swap, RU/EN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39B2E0-B9DE-4D15-97D9-38526D72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4959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метрики переговорной задачи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ecb6157b6db473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D6024-8FEB-4F4F-95F0-6C532C29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СИМУЛЯЦИЯ /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1A184-D6B5-406D-9C72-F7BFB342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Контекст меняет тон, но не экономику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00FEC-141A-48B5-9CDC-43541005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19B21-7463-49AE-9775-A14BFC34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811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Базовое состояние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74B8D-8075-494D-971B-E6DBBB57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RAPPORT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7BB5E-1942-401F-B9F0-ADB2E33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45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C1CBC9-4EC4-48ED-9F18-CA9C6F0D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6A92A0-38A8-4AF4-85C7-A3F5BD1B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52775"/>
            <a:ext cx="96440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4F"/>
          </a:solidFill>
          <a:ln xmlns:a="http://schemas.openxmlformats.org/drawingml/2006/main" w="0">
            <a:solidFill>
              <a:srgbClr val="246B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89291-8423-4956-B8B4-EA934A09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CREDIBILITY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79BA1-681A-44EE-AC35-BEB22EED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60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1A0445-D315-4963-A54C-363E2270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1C00A-10A4-4CC7-9F25-8BA02BDA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52775"/>
            <a:ext cx="12858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977"/>
          </a:solidFill>
          <a:ln xmlns:a="http://schemas.openxmlformats.org/drawingml/2006/main" w="0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646D3-5B34-4248-AC41-E8D75B0B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TENSION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B11B6-4385-4D68-9BE0-72BE12F2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D9822B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D9822B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2EF5F-92BD-41AA-AC66-DF7633F5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C4DACB-1DD6-4BCC-AAF6-3EF0B4A5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152775"/>
            <a:ext cx="21431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22B"/>
          </a:solidFill>
          <a:ln xmlns:a="http://schemas.openxmlformats.org/drawingml/2006/main" w="0">
            <a:solidFill>
              <a:srgbClr val="D982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903A45-FE44-4175-8831-2B7174DA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2574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PATIENCE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C5149-0EE0-4928-8531-9444484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581275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D9D78"/>
                </a:solidFill>
                <a:latin typeface="Montserrat"/>
                <a:ea typeface="Montserrat"/>
                <a:cs typeface="Montserrat"/>
              </a:defRPr>
            </a:pPr>
            <a:r>
              <a:rPr sz="2625" b="1">
                <a:solidFill>
                  <a:srgbClr val="2D9D78"/>
                </a:solidFill>
                <a:latin typeface="Montserrat"/>
                <a:ea typeface="Montserrat"/>
                <a:cs typeface="Montserrat"/>
              </a:rPr>
              <a:t>80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6670D-7E08-4481-A4DD-85410AAD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214312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4"/>
          </a:solidFill>
          <a:ln xmlns:a="http://schemas.openxmlformats.org/drawingml/2006/main" w="0">
            <a:solidFill>
              <a:srgbClr val="F4F6F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AD0F2-09BC-405D-BA00-29E0DD12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5277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D78"/>
          </a:solidFill>
          <a:ln xmlns:a="http://schemas.openxmlformats.org/drawingml/2006/main" w="0">
            <a:solidFill>
              <a:srgbClr val="2D9D7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5B0ED-ACBE-47C8-96CF-8367357A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11144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graphicFrame>
        <p:nvGraphicFramePr>
          <p:cNvPr id="46" name=""/>
          <p:cNvGraphicFramePr/>
          <p:nvPr/>
        </p:nvGraphicFramePr>
        <p:xfrm>
          <a:off xmlns:a="http://schemas.openxmlformats.org/drawingml/2006/main" x="523875" y="3638550"/>
          <a:ext xmlns:a="http://schemas.openxmlformats.org/drawingml/2006/main" cx="11144250" cy="2095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89250"/>
                <a:gridCol w="2682875"/>
                <a:gridCol w="5572125"/>
              </a:tblGrid>
              <a:tr h="438150">
                <a:tc>
                  <a:txBody>
                    <a:bodyPr/>
                    <a:lstStyle/>
                    <a:p>
                      <a:r>
                        <a:t>Событие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Изменение шкал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Эффект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Уместный вопрос о Гуффи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+3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Реплика становится теплее. Экономика не меняется.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Оскорбление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-6, tension +8, patience 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Тон становится жёстче. Терпение снижается.</a:t>
                      </a:r>
                    </a:p>
                  </a:txBody>
                  <a:tcPr marL="91440" marR="91440" marT="45720" marB="45720"/>
                </a:tc>
              </a:tr>
              <a:tr h="552450">
                <a:tc>
                  <a:txBody>
                    <a:bodyPr/>
                    <a:lstStyle/>
                    <a:p>
                      <a:r>
                        <a:t>Извинение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rapport +2, tension -5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Напряжение снижается. Порог сделки остаётся прежним.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FA1DDF-9CA9-40C9-B339-098139E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4835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97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Гуффи - безопасный личный факт. Уместный вопрос повышает rapport на 3. Повтор темы получает штраф.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2A0D8A-DAC4-4839-ACDE-E6E61160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150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75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Шкалы 0-100 являются параметрами симуляции, а не психометрическими измерениями человека.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9bdc7367fbd463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0BABF2-67AF-48EC-AD4D-32EC7C31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ПОВТОР / 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E9E88-2F2C-4527-867D-2AFC9CD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Один сохранённый ход даёт две сравнимые ветки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6B86C-1B1E-4E50-ADCD-1773CD8E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EE247A-EAF8-400D-ADDA-DC402ACD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ПЕРВАЯ ПОПЫТКА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AA198-1523-4409-A627-8A3D8F3E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431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5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06CE2-AB88-4F53-BDB1-788FF475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112 000 EUR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100% аванс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8 недель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CD0A8-3BD4-45F0-B2B8-2B8736F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19350"/>
            <a:ext cx="3333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49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+44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776FA-1C7D-4F55-8EDF-85E268FA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14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балла полезности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5A806-9322-4387-A74C-045FBDAB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ПОВТОР ИЗ ТОЙ ЖЕ ТОЧКИ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37688A-3886-44E1-A790-58E1015B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43150"/>
            <a:ext cx="2381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585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70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10137-4E44-4FF6-B4FF-DB849989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Вопрос о приоритетах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105 000 EUR</a:t>
            </a:r>
          </a:p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100% аванс, 2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B1F906-15EF-4047-9C78-6278E195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910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59B75-6E3C-4CC2-BFCC-65720BFE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05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FBEEF-D7F1-464B-B511-53095EB1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95850"/>
            <a:ext cx="4352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Точное восстановление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C79BD-8F90-4B9E-9AC6-5D01C850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305425"/>
            <a:ext cx="4352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Дочерняя сессия получает состояние, предложения и историю до выбранного решения.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BE46ED-A223-448E-926E-0E544CE4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9053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318214-926D-42D0-BBC4-8B6134C8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895850"/>
            <a:ext cx="4400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Честное сравнение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E4104-D31B-41A0-9C6C-A813C735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305425"/>
            <a:ext cx="440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Отчёт показывает два наблюдаемых исхода. Он не заявляет причинный рост навыка.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ca052cc149743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6E320-CCCC-4344-9309-F96AFCCB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АГЕНТЫ /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CF770-87DA-4660-9F35-B04753AE1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Две LLM сравниваются в одинаковых условиях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D21FD-02FE-4A4E-B839-22060D72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A708B-08BF-473D-B21D-B6AA9C15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1857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BEA85-B76D-4763-ACD8-77202CAB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2C93C-36F0-41B7-BAF1-94A8A3E1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роль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8F8E-560C-4BF6-A521-F40A0E44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6E38D-58E8-4972-8B20-8DD98EEB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4787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6EE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10C9CA-483B-4B1F-8CFE-3A03AEB6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35C27-3B2F-4E58-B2AD-E86DE89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MCP next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0A8FC-0F96-43D6-9D3A-24E9B9B9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F5214-C128-452D-8C0C-A5B20D62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905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520977"/>
          </a:solidFill>
          <a:ln xmlns:a="http://schemas.openxmlformats.org/drawingml/2006/main" w="9525">
            <a:solidFill>
              <a:srgbClr val="52097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F1EB57-98BE-4ED8-B62B-2E9CCC30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ALOLA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425DD-CE23-45FA-B966-6EF9FCD0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87260-A085-4C47-BDDE-34F1CF0D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6D182-6A9F-4D33-A41C-B1155D47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000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E6EE"/>
          </a:solidFill>
          <a:ln xmlns:a="http://schemas.openxmlformats.org/drawingml/2006/main" w="9525">
            <a:solidFill>
              <a:srgbClr val="FF00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694E05-06B0-4777-9B8A-6381C57E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E2B09-49E6-4334-9E77-4B27D51E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MCP 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E33339-3F1F-470F-A67E-F10F922B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62200"/>
            <a:ext cx="38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4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6B4AD-DFB9-4A07-91CB-AA21B036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47637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AC4A7-8B7F-4E6F-A057-3C2074E7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05050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LLM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4B5654-345A-4EA0-96CB-840068F8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1285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68716B"/>
                </a:solidFill>
                <a:latin typeface="Montserrat"/>
                <a:ea typeface="Montserrat"/>
                <a:cs typeface="Montserrat"/>
              </a:rPr>
              <a:t>роль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61323-1C78-46E8-BF79-9F451492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14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ADF10E-7278-4336-ACD2-765EDE21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95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Player API и CLI self-play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82F02-71B3-4007-B6EC-87200E55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2915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MCP-адаптер остаётся следующим интерфейсом поверх тех же безопасных операций.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B3DC5-4D8A-4838-8B5E-5650B004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СРАВНИВАЕМ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45EAF-EB6D-4326-8B0F-0B77B8F6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957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Agreement, utility, constraints, вопросы, latency,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B73F9-0E81-43D0-BC91-EF56842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95875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Вывод относится к переговорным когнитивным навыкам в заданной среде.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FD27DA-A878-4C76-9EC6-AEFEE20D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ECAE24-6F41-4F0B-97A7-20F2B94B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Одинаковый сценарий, fresh sessions, смена ролей, RU/EN и sealed transcript.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1b6fde1105c4fb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C30E4-2AA7-4D20-A05E-F91A845B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ДОКАЗАТЕЛЬСТВА /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B855B-D1ED-4E4A-BC28-2895380B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MVP работает на контролируемом стенде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74015-172F-4B73-9877-7C2AD16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76024-F7AE-45AE-BE9A-F4DBA7F8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negotiation.alolalab.com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9DDAA-DDE7-436B-BC1E-8C1AFA52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HTTPS, release v0.1.2, живой режим QwenCloud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511CD-3533-42A0-828F-4AA2DB1D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97EA2F-CC87-4345-ACC5-2EE0DC00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24225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Проверенная сборка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7F8454-97C6-427A-90BC-81CF1FA8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33800"/>
            <a:ext cx="422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1 186 backend-тестов, 112 frontend-тестов, OpenAPI и production build.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837D0-5FB4-433E-A1C1-180F85EB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52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C3D76-2002-4C12-85C3-3716137B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E6B20-2A2F-4BA5-A3BC-DE5FB5B3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324225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Два режима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6F22F-1F25-4D34-AA98-52C422FD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33800"/>
            <a:ext cx="422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Live-реплики через QwenCloud. Шаблонный режим работает без внешнего ключа.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48037-E88F-448F-B207-413E5D45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529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4BA9"/>
          </a:solidFill>
          <a:ln xmlns:a="http://schemas.openxmlformats.org/drawingml/2006/main" w="0">
            <a:solidFill>
              <a:srgbClr val="8D4B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A7DC22-EC5F-42DF-84D5-DD5811B5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0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9C9F5-DF67-4527-86A4-292FFB75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006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Сохранность сессии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037EF0-CF0E-42C3-A4D3-4A00B813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10175"/>
            <a:ext cx="422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SQLite сохраняет переговоры. Проверенная сессия доступна после перезапуска сервиса.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0CC02-0DE5-4369-B9CB-54766ACA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81012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defRPr>
            </a:pPr>
            <a:r>
              <a:rPr sz="1800" b="1">
                <a:solidFill>
                  <a:srgbClr val="FFE6EE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21765C-AF14-4962-BFB5-7C514BB3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006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Контроль доступа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3C590-B0A3-43DE-8262-D098481B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5210175"/>
            <a:ext cx="4229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F2EAF5"/>
                </a:solidFill>
                <a:latin typeface="Montserrat"/>
                <a:ea typeface="Montserrat"/>
                <a:cs typeface="Montserrat"/>
              </a:rPr>
              <a:t>HTTPS, вход жюри, защищённые bootstrap-маршруты и Bearer-токены сессий.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283D4-D5BB-4BFB-968A-8B3D639C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9D214-C9FC-4E6A-BC46-744DA730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Внешний canary проверяет страницу, admission cookie и API health каждые 30 секунд.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7923cd463d04ab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EE2FF-C021-44AD-B927-3A87E0CC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825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ПИЛОТ / 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1FEF1-CD62-4414-BE0A-9E2A3BAC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52475"/>
            <a:ext cx="11001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Следующий шаг - одна учебная группа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27976-3714-4392-B8FD-AC797F8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8930B3-4B5F-4E4D-851F-A3969496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46B4F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246B4F"/>
                </a:solidFill>
                <a:latin typeface="Montserrat"/>
                <a:ea typeface="Montserrat"/>
                <a:cs typeface="Montserrat"/>
              </a:rPr>
              <a:t>СЕЙЧАС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610FC-2EBA-4FC6-ADC1-C2CB011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28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MVP и стенд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EC61A-D48F-4FF3-93E4-329614DC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956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4F"/>
          </a:solidFill>
          <a:ln xmlns:a="http://schemas.openxmlformats.org/drawingml/2006/main" w="0">
            <a:solidFill>
              <a:srgbClr val="24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BB142-E5D0-4D9E-8DCD-2DB19467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38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9 сценариев</a:t>
            </a:r>
          </a:p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Живой диалог</a:t>
            </a:r>
          </a:p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Разбор и точный повтор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67FA8-5615-4845-AA5E-3049FECA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00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ПИЛОТ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AA07A-663A-430B-B2E7-F1925C9F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28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Одна группа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3F3AB-F23F-4029-87A1-2F7C0AD1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956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solidFill>
              <a:srgbClr val="FF00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7C8E76-B712-46E4-9BD2-EA8BF41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38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4 кейса</a:t>
            </a:r>
          </a:p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2 попытки на участника</a:t>
            </a:r>
          </a:p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Разбор решений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BC085-2C24-4E9E-B99E-5241BAB2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00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900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СЛЕДОМ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D4CBA-6F78-437B-8BF7-7F391F07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28875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7"/>
                </a:solidFill>
                <a:latin typeface="Montserrat"/>
                <a:ea typeface="Montserrat"/>
                <a:cs typeface="Montserrat"/>
              </a:rPr>
              <a:t>Кабинет преподавателя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8228D-9E2B-472D-8B06-CBBA9E45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956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0977"/>
          </a:solidFill>
          <a:ln xmlns:a="http://schemas.openxmlformats.org/drawingml/2006/main" w="0">
            <a:solidFill>
              <a:srgbClr val="52097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3A304C-D344-4261-9096-96A4A557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3855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Задания для группы</a:t>
            </a:r>
          </a:p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Сравнение попыток</a:t>
            </a:r>
          </a:p>
          <a:p xmlns:a="http://schemas.openxmlformats.org/drawingml/2006/main">
            <a:pPr>
              <a:def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6171A"/>
                </a:solidFill>
                <a:latin typeface="Montserrat"/>
                <a:ea typeface="Montserrat"/>
                <a:cs typeface="Montserrat"/>
              </a:rPr>
              <a:t>Экспорт результатов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753A62-B97C-410D-8F64-AA64B8FE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886450"/>
            <a:ext cx="1114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6EE"/>
          </a:solidFill>
          <a:ln xmlns:a="http://schemas.openxmlformats.org/drawingml/2006/main" w="0">
            <a:solidFill>
              <a:srgbClr val="FFE6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E785E-8A22-40B4-84C9-448D6C69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81700"/>
            <a:ext cx="1076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D0B43"/>
                </a:solidFill>
                <a:latin typeface="Montserrat"/>
                <a:ea typeface="Montserrat"/>
                <a:cs typeface="Montserrat"/>
              </a:rPr>
              <a:t>Критерий пилота: преподаватель видит, какой ход изменил предложение и результат.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2026-09-28T22:34:23.1360000Z</dcterms:created>
  <dcterms:modified xsi:type="dcterms:W3CDTF">2026-09-28T22:34:23.1360000Z</dcterms:modified>
</coreProperties>
</file>