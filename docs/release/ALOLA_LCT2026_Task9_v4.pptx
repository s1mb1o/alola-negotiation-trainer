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158b2090f44bba" /><Relationship Type="http://schemas.openxmlformats.org/officeDocument/2006/relationships/extended-properties" Target="/docProps/app.xml" Id="R5e6ca52448bf42d8" /><Relationship Type="http://schemas.openxmlformats.org/officeDocument/2006/relationships/officeDocument" Target="/ppt/presentation.xml" Id="R15d5348cd14941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5aeae8cbaa4f6e"/>
  </p:sldMasterIdLst>
  <p:notesMasterIdLst>
    <p:notesMasterId xmlns:r="http://schemas.openxmlformats.org/officeDocument/2006/relationships" r:id="R54647e3eb3a4408c"/>
  </p:notesMasterIdLst>
  <p:sldIdLst>
    <p:sldId xmlns:r="http://schemas.openxmlformats.org/officeDocument/2006/relationships" id="256" r:id="R84f1c585d02b4ee6"/>
    <p:sldId xmlns:r="http://schemas.openxmlformats.org/officeDocument/2006/relationships" id="257" r:id="R423b373a2e754d12"/>
    <p:sldId xmlns:r="http://schemas.openxmlformats.org/officeDocument/2006/relationships" id="258" r:id="R9927e7fbc88147ec"/>
    <p:sldId xmlns:r="http://schemas.openxmlformats.org/officeDocument/2006/relationships" id="259" r:id="R585862e64bdf4eb7"/>
    <p:sldId xmlns:r="http://schemas.openxmlformats.org/officeDocument/2006/relationships" id="260" r:id="R359adb18365b4fd3"/>
    <p:sldId xmlns:r="http://schemas.openxmlformats.org/officeDocument/2006/relationships" id="261" r:id="Ra0504f12eac74fce"/>
    <p:sldId xmlns:r="http://schemas.openxmlformats.org/officeDocument/2006/relationships" id="262" r:id="R7f6d1398dd0a4c95"/>
    <p:sldId xmlns:r="http://schemas.openxmlformats.org/officeDocument/2006/relationships" id="263" r:id="R82be88463d064f7b"/>
    <p:sldId xmlns:r="http://schemas.openxmlformats.org/officeDocument/2006/relationships" id="264" r:id="Rd6c1121474134d9d"/>
    <p:sldId xmlns:r="http://schemas.openxmlformats.org/officeDocument/2006/relationships" id="265" r:id="R2870bc28a8f449a2"/>
    <p:sldId xmlns:r="http://schemas.openxmlformats.org/officeDocument/2006/relationships" id="266" r:id="R5fc5eafb82f547c6"/>
    <p:sldId xmlns:r="http://schemas.openxmlformats.org/officeDocument/2006/relationships" id="267" r:id="R7f49bc9a08324ad3"/>
    <p:sldId xmlns:r="http://schemas.openxmlformats.org/officeDocument/2006/relationships" id="268" r:id="Rd61d1576d93c4b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803be3c5dd4126" /><Relationship Type="http://schemas.openxmlformats.org/officeDocument/2006/relationships/slideMaster" Target="/ppt/slideMasters/slideMaster1.xml" Id="R2e5aeae8cbaa4f6e" /><Relationship Type="http://schemas.openxmlformats.org/officeDocument/2006/relationships/notesMaster" Target="/ppt/notesMasters/notesMaster1.xml" Id="R54647e3eb3a4408c" /><Relationship Type="http://schemas.openxmlformats.org/officeDocument/2006/relationships/presProps" Target="/ppt/presProps.xml" Id="Rc657d3da61974f7c" /><Relationship Type="http://schemas.openxmlformats.org/officeDocument/2006/relationships/viewProps" Target="/ppt/viewProps.xml" Id="Rfb04b6281acf4f55" /><Relationship Type="http://schemas.openxmlformats.org/officeDocument/2006/relationships/tableStyles" Target="/ppt/tableStyles.xml" Id="R865c32972cc84dd5" /><Relationship Type="http://schemas.openxmlformats.org/officeDocument/2006/relationships/slide" Target="/ppt/slides/slide1.xml" Id="R84f1c585d02b4ee6" /><Relationship Type="http://schemas.openxmlformats.org/officeDocument/2006/relationships/slide" Target="/ppt/slides/slide2.xml" Id="R423b373a2e754d12" /><Relationship Type="http://schemas.openxmlformats.org/officeDocument/2006/relationships/slide" Target="/ppt/slides/slide3.xml" Id="R9927e7fbc88147ec" /><Relationship Type="http://schemas.openxmlformats.org/officeDocument/2006/relationships/slide" Target="/ppt/slides/slide4.xml" Id="R585862e64bdf4eb7" /><Relationship Type="http://schemas.openxmlformats.org/officeDocument/2006/relationships/slide" Target="/ppt/slides/slide5.xml" Id="R359adb18365b4fd3" /><Relationship Type="http://schemas.openxmlformats.org/officeDocument/2006/relationships/slide" Target="/ppt/slides/slide6.xml" Id="Ra0504f12eac74fce" /><Relationship Type="http://schemas.openxmlformats.org/officeDocument/2006/relationships/slide" Target="/ppt/slides/slide7.xml" Id="R7f6d1398dd0a4c95" /><Relationship Type="http://schemas.openxmlformats.org/officeDocument/2006/relationships/slide" Target="/ppt/slides/slide8.xml" Id="R82be88463d064f7b" /><Relationship Type="http://schemas.openxmlformats.org/officeDocument/2006/relationships/slide" Target="/ppt/slides/slide9.xml" Id="Rd6c1121474134d9d" /><Relationship Type="http://schemas.openxmlformats.org/officeDocument/2006/relationships/slide" Target="/ppt/slides/slide10.xml" Id="R2870bc28a8f449a2" /><Relationship Type="http://schemas.openxmlformats.org/officeDocument/2006/relationships/slide" Target="/ppt/slides/slide11.xml" Id="R5fc5eafb82f547c6" /><Relationship Type="http://schemas.openxmlformats.org/officeDocument/2006/relationships/slide" Target="/ppt/slides/slide12.xml" Id="R7f49bc9a08324ad3" /><Relationship Type="http://schemas.openxmlformats.org/officeDocument/2006/relationships/slide" Target="/ppt/slides/slide13.xml" Id="Rd61d1576d93c4b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d5c8aec7c24e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d28b54ae7542cb" /><Relationship Type="http://schemas.openxmlformats.org/officeDocument/2006/relationships/notesMaster" Target="/ppt/notesMasters/notesMaster1.xml" Id="Rd627452861554c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a4241c06a8496e" /><Relationship Type="http://schemas.openxmlformats.org/officeDocument/2006/relationships/notesMaster" Target="/ppt/notesMasters/notesMaster1.xml" Id="Rc1251c57c18b4f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01e20a92c94c74" /><Relationship Type="http://schemas.openxmlformats.org/officeDocument/2006/relationships/notesMaster" Target="/ppt/notesMasters/notesMaster1.xml" Id="R53a1af3cb8764c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f06d58d33a49a5" /><Relationship Type="http://schemas.openxmlformats.org/officeDocument/2006/relationships/notesMaster" Target="/ppt/notesMasters/notesMaster1.xml" Id="R8c0eb5e3dd1443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f13c94df264de4" /><Relationship Type="http://schemas.openxmlformats.org/officeDocument/2006/relationships/notesMaster" Target="/ppt/notesMasters/notesMaster1.xml" Id="R02799d92bd5c45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f79a4d86644e2d" /><Relationship Type="http://schemas.openxmlformats.org/officeDocument/2006/relationships/notesMaster" Target="/ppt/notesMasters/notesMaster1.xml" Id="R31947fb119d345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e3a9ba82f84b01" /><Relationship Type="http://schemas.openxmlformats.org/officeDocument/2006/relationships/notesMaster" Target="/ppt/notesMasters/notesMaster1.xml" Id="R33eebd2f95dd4f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e72e3ce32243d7" /><Relationship Type="http://schemas.openxmlformats.org/officeDocument/2006/relationships/notesMaster" Target="/ppt/notesMasters/notesMaster1.xml" Id="R05fee544a52f47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0709982c1841fc" /><Relationship Type="http://schemas.openxmlformats.org/officeDocument/2006/relationships/notesMaster" Target="/ppt/notesMasters/notesMaster1.xml" Id="R2969add1c4bd40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e28d0b5d304db1" /><Relationship Type="http://schemas.openxmlformats.org/officeDocument/2006/relationships/notesMaster" Target="/ppt/notesMasters/notesMaster1.xml" Id="R2784c7d673c64e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d48f5914a64099" /><Relationship Type="http://schemas.openxmlformats.org/officeDocument/2006/relationships/notesMaster" Target="/ppt/notesMasters/notesMaster1.xml" Id="R7e5857faabec44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19182553f647b7" /><Relationship Type="http://schemas.openxmlformats.org/officeDocument/2006/relationships/notesMaster" Target="/ppt/notesMasters/notesMaster1.xml" Id="R5faff688e79a4c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a74a4d797b4317" /><Relationship Type="http://schemas.openxmlformats.org/officeDocument/2006/relationships/notesMaster" Target="/ppt/notesMasters/notesMaster1.xml" Id="R05a0052f1ad94e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ALOLA. Конкурсная презентация по задаче № 9.</a:t>
            </a:r>
          </a:p>
          <a:p xmlns:a="http://schemas.openxmlformats.org/drawingml/2006/main">
            <a:r>
              <a:t>Визуальный ритм основан на референсе arena-presentation.pdf.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alola-negotiation-trainer/docs/specs/architecture.md</a:t>
            </a:r>
          </a:p>
          <a:p xmlns:a="http://schemas.openxmlformats.org/drawingml/2006/main">
            <a:r>
              <a:t>Источник: alola-negotiation-trainer/docs/specs/player-api.md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Снимки получены 2026-09-29 из локального ALOLA в template-only режиме.</a:t>
            </a:r>
          </a:p>
          <a:p xmlns:a="http://schemas.openxmlformats.org/drawingml/2006/main">
            <a:r>
              <a:t>Внешние LLM-вызовы не использовались.</a:t>
            </a:r>
          </a:p>
          <a:p xmlns:a="http://schemas.openxmlformats.org/drawingml/2006/main">
            <a:r>
              <a:t>Показан честный исход без сделки. Выход сам по себе не считается успехом или неудачей.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alola-negotiation-trainer/docs/decisions/001-negotiation-methodology.md</a:t>
            </a:r>
            <a:endParaRPr/>
          </a:p>
          <a:p xmlns:a="http://schemas.openxmlformats.org/drawingml/2006/main">
            <a:r>
              <a:t>BATNA и reservation utility хранятся как разные понятия.</a:t>
            </a:r>
            <a:endParaRPr/>
          </a:p>
          <a:p xmlns:a="http://schemas.openxmlformats.org/drawingml/2006/main">
            <a:r>
              <a:t>Тактики Восса используются как опциональные речевые приёмы.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alola-negotiation-trainer/scripts/run-qwen-api.sh</a:t>
            </a:r>
          </a:p>
          <a:p xmlns:a="http://schemas.openxmlformats.org/drawingml/2006/main">
            <a:r>
              <a:t>Источник: alola-negotiation-trainer/docs/benchmarks/qwencloud-api-model-benchmark.md</a:t>
            </a:r>
          </a:p>
          <a:p xmlns:a="http://schemas.openxmlformats.org/drawingml/2006/main">
            <a:r>
              <a:t>Сравнение относится к переговорной задаче. Оно не является оценкой общего интеллекта.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alola-negotiation-trainer/src/alola_negotiation_trainer/training.py</a:t>
            </a:r>
            <a:endParaRPr/>
          </a:p>
          <a:p xmlns:a="http://schemas.openxmlformats.org/drawingml/2006/main">
            <a:r>
              <a:t>Источник: alola-negotiation-trainer/docs/specs/training.md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alola-negotiation-trainer/src/alola_negotiation_trainer/training.py</a:t>
            </a:r>
          </a:p>
          <a:p xmlns:a="http://schemas.openxmlformats.org/drawingml/2006/main">
            <a:r>
              <a:t>Live-пример: rapport вырос с 55 до 58. Другие шкалы не изменились.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Текущий статус: Player API и CLI self-play реализованы.</a:t>
            </a:r>
            <a:endParaRPr/>
          </a:p>
          <a:p xmlns:a="http://schemas.openxmlformats.org/drawingml/2006/main">
            <a:r>
              <a:t>MCP-адаптер в продукте не реализован. На слайде он обозначен как MCP-ready следующий интерфейс.</a:t>
            </a:r>
            <a:endParaRPr/>
          </a:p>
          <a:p xmlns:a="http://schemas.openxmlformats.org/drawingml/2006/main">
            <a:r>
              <a:t>Источник: alola-negotiation-trainer/docs/specs/player-api.md</a:t>
            </a:r>
            <a:endParaRPr/>
          </a:p>
          <a:p xmlns:a="http://schemas.openxmlformats.org/drawingml/2006/main">
            <a:r>
              <a:t>Источник: alola-negotiation-trainer/docs/benchmarks/qwencloud-api-model-benchmark.md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7525c7c074c34" /><Relationship Type="http://schemas.openxmlformats.org/officeDocument/2006/relationships/image" Target="/ppt/media/image2.png" Id="R897ee8006eb44c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ccaf08a1642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a18ba5dac45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c046e03724b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1756279aa4c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96839134846a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e33b7a01b4ea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1cdd281644d0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d4c56dc6f452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7d9ce129b49c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6137c7efe43d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46303744e469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622a150d9047f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e34a5fa28436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b22cf1c9274ea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3fd4588494c4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50779030748a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304d0ee0a4a9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26fb5b8cc142b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634983ce04f6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4830c747f4fe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8e0ec9acc4e97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daddf5a8b438b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897ee8006eb44c0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233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079c3624dae40d9" /><Relationship Type="http://schemas.openxmlformats.org/officeDocument/2006/relationships/theme" Target="/ppt/slideMasters/theme/theme2.xml" Id="Re543260c1c5945db" /><Relationship Type="http://schemas.openxmlformats.org/officeDocument/2006/relationships/slideLayout" Target="/ppt/slideLayouts/slideLayout1.xml" Id="R3811fd75b0b24477" /><Relationship Type="http://schemas.openxmlformats.org/officeDocument/2006/relationships/slideLayout" Target="/ppt/slideLayouts/slideLayout2.xml" Id="Raf2fbce257d44b29" /><Relationship Type="http://schemas.openxmlformats.org/officeDocument/2006/relationships/slideLayout" Target="/ppt/slideLayouts/slideLayout3.xml" Id="Re68b4afa573f499c" /><Relationship Type="http://schemas.openxmlformats.org/officeDocument/2006/relationships/slideLayout" Target="/ppt/slideLayouts/slideLayout4.xml" Id="Ra355c433730f4e45" /><Relationship Type="http://schemas.openxmlformats.org/officeDocument/2006/relationships/slideLayout" Target="/ppt/slideLayouts/slideLayout5.xml" Id="R09275c6870534884" /><Relationship Type="http://schemas.openxmlformats.org/officeDocument/2006/relationships/slideLayout" Target="/ppt/slideLayouts/slideLayout6.xml" Id="R20b9ef94c80647b6" /><Relationship Type="http://schemas.openxmlformats.org/officeDocument/2006/relationships/slideLayout" Target="/ppt/slideLayouts/slideLayout7.xml" Id="R47d15ba9edd14f8e" /><Relationship Type="http://schemas.openxmlformats.org/officeDocument/2006/relationships/slideLayout" Target="/ppt/slideLayouts/slideLayout8.xml" Id="Re97e30e93ee94e05" /><Relationship Type="http://schemas.openxmlformats.org/officeDocument/2006/relationships/slideLayout" Target="/ppt/slideLayouts/slideLayout9.xml" Id="Reb5a66fa94044352" /><Relationship Type="http://schemas.openxmlformats.org/officeDocument/2006/relationships/slideLayout" Target="/ppt/slideLayouts/slideLayout10.xml" Id="Rcb7ce15c7c4c4453" /><Relationship Type="http://schemas.openxmlformats.org/officeDocument/2006/relationships/slideLayout" Target="/ppt/slideLayouts/slideLayout11.xml" Id="R84920148889c4a60" /><Relationship Type="http://schemas.openxmlformats.org/officeDocument/2006/relationships/slideLayout" Target="/ppt/slideLayouts/slideLayout12.xml" Id="R7efb8b0c6b804239" /><Relationship Type="http://schemas.openxmlformats.org/officeDocument/2006/relationships/slideLayout" Target="/ppt/slideLayouts/slideLayout13.xml" Id="R63b54f18d16542a0" /><Relationship Type="http://schemas.openxmlformats.org/officeDocument/2006/relationships/slideLayout" Target="/ppt/slideLayouts/slideLayout14.xml" Id="R0215c1cdb05645b5" /><Relationship Type="http://schemas.openxmlformats.org/officeDocument/2006/relationships/slideLayout" Target="/ppt/slideLayouts/slideLayout15.xml" Id="R3b6120b0b5d44993" /><Relationship Type="http://schemas.openxmlformats.org/officeDocument/2006/relationships/slideLayout" Target="/ppt/slideLayouts/slideLayout16.xml" Id="Rcfca7a7e43b4485c" /><Relationship Type="http://schemas.openxmlformats.org/officeDocument/2006/relationships/slideLayout" Target="/ppt/slideLayouts/slideLayout17.xml" Id="R6209f5008d574bb8" /><Relationship Type="http://schemas.openxmlformats.org/officeDocument/2006/relationships/slideLayout" Target="/ppt/slideLayouts/slideLayout18.xml" Id="R70430d491e2f47f7" /><Relationship Type="http://schemas.openxmlformats.org/officeDocument/2006/relationships/slideLayout" Target="/ppt/slideLayouts/slideLayout19.xml" Id="Ra51f2a9b1d7e45b3" /><Relationship Type="http://schemas.openxmlformats.org/officeDocument/2006/relationships/slideLayout" Target="/ppt/slideLayouts/slideLayout20.xml" Id="R6397feb799ad42bd" /><Relationship Type="http://schemas.openxmlformats.org/officeDocument/2006/relationships/slideLayout" Target="/ppt/slideLayouts/slideLayout21.xml" Id="R1af1c301caac405f" /><Relationship Type="http://schemas.openxmlformats.org/officeDocument/2006/relationships/slideLayout" Target="/ppt/slideLayouts/slideLayout22.xml" Id="Rb775d66b00fd4d80" /><Relationship Type="http://schemas.openxmlformats.org/officeDocument/2006/relationships/slideLayout" Target="/ppt/slideLayouts/slideLayout23.xml" Id="R8ca4cdde87a644b4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079c3624dae40d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11fd75b0b24477"/>
    <p:sldLayoutId xmlns:r="http://schemas.openxmlformats.org/officeDocument/2006/relationships" id="2147483650" r:id="Raf2fbce257d44b29"/>
    <p:sldLayoutId xmlns:r="http://schemas.openxmlformats.org/officeDocument/2006/relationships" id="2147483651" r:id="Re68b4afa573f499c"/>
    <p:sldLayoutId xmlns:r="http://schemas.openxmlformats.org/officeDocument/2006/relationships" id="2147483652" r:id="Ra355c433730f4e45"/>
    <p:sldLayoutId xmlns:r="http://schemas.openxmlformats.org/officeDocument/2006/relationships" id="2147483653" r:id="R09275c6870534884"/>
    <p:sldLayoutId xmlns:r="http://schemas.openxmlformats.org/officeDocument/2006/relationships" id="2147483654" r:id="R20b9ef94c80647b6"/>
    <p:sldLayoutId xmlns:r="http://schemas.openxmlformats.org/officeDocument/2006/relationships" id="2147483655" r:id="R47d15ba9edd14f8e"/>
    <p:sldLayoutId xmlns:r="http://schemas.openxmlformats.org/officeDocument/2006/relationships" id="2147483656" r:id="Re97e30e93ee94e05"/>
    <p:sldLayoutId xmlns:r="http://schemas.openxmlformats.org/officeDocument/2006/relationships" id="2147483657" r:id="Reb5a66fa94044352"/>
    <p:sldLayoutId xmlns:r="http://schemas.openxmlformats.org/officeDocument/2006/relationships" id="2147483658" r:id="Rcb7ce15c7c4c4453"/>
    <p:sldLayoutId xmlns:r="http://schemas.openxmlformats.org/officeDocument/2006/relationships" id="2147483659" r:id="R84920148889c4a60"/>
    <p:sldLayoutId xmlns:r="http://schemas.openxmlformats.org/officeDocument/2006/relationships" id="2147483660" r:id="R7efb8b0c6b804239"/>
    <p:sldLayoutId xmlns:r="http://schemas.openxmlformats.org/officeDocument/2006/relationships" id="2147483661" r:id="R63b54f18d16542a0"/>
    <p:sldLayoutId xmlns:r="http://schemas.openxmlformats.org/officeDocument/2006/relationships" id="2147483662" r:id="R0215c1cdb05645b5"/>
    <p:sldLayoutId xmlns:r="http://schemas.openxmlformats.org/officeDocument/2006/relationships" id="2147483663" r:id="R3b6120b0b5d44993"/>
    <p:sldLayoutId xmlns:r="http://schemas.openxmlformats.org/officeDocument/2006/relationships" id="2147483664" r:id="Rcfca7a7e43b4485c"/>
    <p:sldLayoutId xmlns:r="http://schemas.openxmlformats.org/officeDocument/2006/relationships" id="2147483665" r:id="R6209f5008d574bb8"/>
    <p:sldLayoutId xmlns:r="http://schemas.openxmlformats.org/officeDocument/2006/relationships" id="2147483666" r:id="R70430d491e2f47f7"/>
    <p:sldLayoutId xmlns:r="http://schemas.openxmlformats.org/officeDocument/2006/relationships" id="2147483667" r:id="Ra51f2a9b1d7e45b3"/>
    <p:sldLayoutId xmlns:r="http://schemas.openxmlformats.org/officeDocument/2006/relationships" id="2147483668" r:id="R6397feb799ad42bd"/>
    <p:sldLayoutId xmlns:r="http://schemas.openxmlformats.org/officeDocument/2006/relationships" id="2147483669" r:id="R1af1c301caac405f"/>
    <p:sldLayoutId xmlns:r="http://schemas.openxmlformats.org/officeDocument/2006/relationships" id="2147483670" r:id="Rb775d66b00fd4d80"/>
    <p:sldLayoutId xmlns:r="http://schemas.openxmlformats.org/officeDocument/2006/relationships" id="2147483671" r:id="R8ca4cdde87a644b4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45c6de9ca43c4" /><Relationship Type="http://schemas.openxmlformats.org/officeDocument/2006/relationships/notesSlide" Target="/ppt/notesSlides/notesSlide1.xml" Id="Re676e8d6962e41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5de1845dbb4f5f" /><Relationship Type="http://schemas.openxmlformats.org/officeDocument/2006/relationships/image" Target="/ppt/media/image3.png" Id="R4b13383d240f4dfe" /><Relationship Type="http://schemas.openxmlformats.org/officeDocument/2006/relationships/image" Target="/ppt/media/image4.png" Id="R31a063195bbe4c9c" /><Relationship Type="http://schemas.openxmlformats.org/officeDocument/2006/relationships/image" Target="/ppt/media/image5.png" Id="R755015d499d34512" /><Relationship Type="http://schemas.openxmlformats.org/officeDocument/2006/relationships/notesSlide" Target="/ppt/notesSlides/notesSlide2.xml" Id="Rf682fc8e782a44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a2db8cd89c4d93" /><Relationship Type="http://schemas.openxmlformats.org/officeDocument/2006/relationships/image" Target="/ppt/media/image.png" Id="R31a76eab12be499c" /><Relationship Type="http://schemas.openxmlformats.org/officeDocument/2006/relationships/notesSlide" Target="/ppt/notesSlides/notesSlide3.xml" Id="R86a981e81ebe4f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2e4877a6434eda" /><Relationship Type="http://schemas.openxmlformats.org/officeDocument/2006/relationships/image" Target="/ppt/media/image6.png" Id="R9670ea96ef054c01" /><Relationship Type="http://schemas.openxmlformats.org/officeDocument/2006/relationships/notesSlide" Target="/ppt/notesSlides/notesSlide4.xml" Id="Rced28a53ba5246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3796eb077ba4695" /><Relationship Type="http://schemas.openxmlformats.org/officeDocument/2006/relationships/image" Target="/ppt/media/image.png" Id="R437af6181b7f4ed0" /><Relationship Type="http://schemas.openxmlformats.org/officeDocument/2006/relationships/notesSlide" Target="/ppt/notesSlides/notesSlide5.xml" Id="R0e6eebc3c85942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f2a302620fd495c" /><Relationship Type="http://schemas.openxmlformats.org/officeDocument/2006/relationships/image" Target="/ppt/media/image3.png" Id="Ra2735bc917204448" /><Relationship Type="http://schemas.openxmlformats.org/officeDocument/2006/relationships/notesSlide" Target="/ppt/notesSlides/notesSlide6.xml" Id="Rb5b968bc29f248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7a1d5cca21c54ee2" /><Relationship Type="http://schemas.openxmlformats.org/officeDocument/2006/relationships/image" Target="/ppt/media/image3.png" Id="R35b5846ad05a43ed" /><Relationship Type="http://schemas.openxmlformats.org/officeDocument/2006/relationships/image" Target="/ppt/media/image7.png" Id="Re7252ea8571d4364" /><Relationship Type="http://schemas.openxmlformats.org/officeDocument/2006/relationships/image" Target="/ppt/media/image8.png" Id="R9905d34a3ad04001" /><Relationship Type="http://schemas.openxmlformats.org/officeDocument/2006/relationships/notesSlide" Target="/ppt/notesSlides/notesSlide7.xml" Id="Rcc2ea212a5c940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7623581efb14e02" /><Relationship Type="http://schemas.openxmlformats.org/officeDocument/2006/relationships/image" Target="/ppt/media/image3.png" Id="Rb056337fdb1d4b5a" /><Relationship Type="http://schemas.openxmlformats.org/officeDocument/2006/relationships/notesSlide" Target="/ppt/notesSlides/notesSlide8.xml" Id="Rdded0cc440f240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08e0afae4624c73" /><Relationship Type="http://schemas.openxmlformats.org/officeDocument/2006/relationships/image" Target="/ppt/media/image6.png" Id="Rc02cb112227643b1" /><Relationship Type="http://schemas.openxmlformats.org/officeDocument/2006/relationships/notesSlide" Target="/ppt/notesSlides/notesSlide9.xml" Id="R3f266875322b4e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a6c596fa962482c" /><Relationship Type="http://schemas.openxmlformats.org/officeDocument/2006/relationships/image" Target="/ppt/media/image.png" Id="Rbba11a5ef7684ff6" /><Relationship Type="http://schemas.openxmlformats.org/officeDocument/2006/relationships/notesSlide" Target="/ppt/notesSlides/notesSlide10.xml" Id="R1ef461b0172f4e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1cf9620e3f4f75" /><Relationship Type="http://schemas.openxmlformats.org/officeDocument/2006/relationships/image" Target="/ppt/media/image6.png" Id="R4ca049efdf4147f8" /><Relationship Type="http://schemas.openxmlformats.org/officeDocument/2006/relationships/notesSlide" Target="/ppt/notesSlides/notesSlide11.xml" Id="R5b2942624da845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96e630fc9da44fd" /><Relationship Type="http://schemas.openxmlformats.org/officeDocument/2006/relationships/image" Target="/ppt/media/image.png" Id="R5f77115cd4014ee6" /><Relationship Type="http://schemas.openxmlformats.org/officeDocument/2006/relationships/notesSlide" Target="/ppt/notesSlides/notesSlide12.xml" Id="R2d218d88e0ad44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54d7af50e44414" /><Relationship Type="http://schemas.openxmlformats.org/officeDocument/2006/relationships/image" Target="/ppt/media/image6.png" Id="R343d07251a98428e" /><Relationship Type="http://schemas.openxmlformats.org/officeDocument/2006/relationships/notesSlide" Target="/ppt/notesSlides/notesSlide13.xml" Id="R27c811b5518642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B28B6-538B-4D82-98AC-84CB8932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86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ЗАДАЧА № 9  /  ALOLA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A47C8-F69D-4AF0-A072-18CD28DB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05200"/>
            <a:ext cx="6381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Переговоры,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которые можно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переиграть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ADD55-3E70-4A99-B492-775F78AE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81675"/>
            <a:ext cx="466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1BCFE-7AAE-4918-9BF0-3367C8B6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626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AI-first тренажёр для людей и переговорных агентов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b13383d240f4df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6F0DC-2FC7-4EAF-B78A-01F5094A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КОМАНДА /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064CA-70DB-4815-9544-DAF03C6C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Команда соединяет обучение и реальную практику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47E2D-D3B7-4CBD-B58D-8F54C8C3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063195bbe4c9c"/>
          <a:srcRect xmlns:a="http://schemas.openxmlformats.org/drawingml/2006/main" l="0" t="459" r="0" b="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790700"/>
            <a:ext cx="2000250" cy="2476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015d499d34512"/>
          <a:srcRect xmlns:a="http://schemas.openxmlformats.org/drawingml/2006/main" l="0" t="459" r="0" b="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0" y="1790700"/>
            <a:ext cx="2000250" cy="2476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704A9-9530-4608-9EA6-B46993D0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577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Шмелева Ольга Васильевна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AF6D9-F76B-4709-B02F-FB162577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720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преподаватель ВАВТ</a:t>
            </a:r>
          </a:p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деловой английский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3E5A2-492D-40A9-852A-E07A5D10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Головатюк Виталий Владмирович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9DFAD-DF01-4918-8292-6FA38B58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72050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предприниматель</a:t>
            </a:r>
          </a:p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кандидат юридических наук</a:t>
            </a:r>
          </a:p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ветеран МВД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51708-6D47-4C25-9842-C9651C78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00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6B4F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246B4F"/>
                </a:solidFill>
                <a:latin typeface="Montserrat"/>
                <a:ea typeface="Montserrat"/>
                <a:cs typeface="Montserrat"/>
              </a:rPr>
              <a:t>ALOLA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E80AC-9BD7-4DA4-9D64-E1913820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47950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Безопасная практика переговоров с живым диалогом, структурированной сделкой и разбором по фактам.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8A59A-2A87-48AB-91A1-238BF23B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Движок контролирует экономику и ограничения. LLM отвечает за естественный язык.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14DE1-8B62-4E87-8C25-ABE45231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30E00-FF8E-4E1D-95B9-D4DAC8C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Два эксперта формируют методику, сценарии, проверку рисков и критерии разбора.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1a76eab12be499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2C3E49-435D-4140-AD35-66255163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КОМАНДА /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00020-0B07-41AD-9D0E-8CE1FC61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Два эксперта закрывают пять зон продукта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ACE54-30DE-411A-B9BB-F5F52C3C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AA7CF-6AE0-48D6-A639-46B30A67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A6B1B-5046-45DA-ADB3-1E087274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800225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Методика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7645C-ADC2-4798-B599-248F51A0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20980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Интересы, BATNA, ZOPA и критерии разбора. Ольга.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4CE97-95C4-41EF-AA37-DB7422CB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19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B4242-8FD0-4FA0-904B-9467009E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4D6B3-83EC-4E30-BB1B-9DDFC8D2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00225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Язык и кейсы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7A122-CABF-40E4-A489-4EE6A67D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0980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Деловой английский и учебные сценарии. Ольга.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EEB44-E680-41AB-BC16-E951A46A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19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33385-2B2C-4117-9CDB-DD29F8EB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334FA-3511-4508-B57A-1BF4EF6E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861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Практика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A2FB6-29DB-46A3-B25D-4CDC7D7C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95675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Поведение сторон и реалистичность диалога. Виталий.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247E5-9D87-4B80-BD66-5E514DED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052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8328D-C678-48E6-B9E5-0632D88F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93B03-B631-491D-AF38-A5E76CF8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0861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Правовые риски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F9D69-BE60-4759-B1CC-9102E93A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495675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Формулировки, обязательства и границы применения. Виталий.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63823-DA29-483D-87F6-B6076FDA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052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E1530-E0B2-4367-BD93-9D3A0860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34235-EE6B-4D8B-8D4E-E02E7C30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71975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Продукт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64ABA-01C4-4660-968A-C2E895AE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78155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Проверка гипотез, тестирование и презентация. Совместно.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6ACF9-C760-4986-8F05-B36FD8D4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5054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ОДНА КОМАНДА. ОДИН КРИТЕРИЙ: РЕШЕНИЕ ДОЛЖНО БЫТЬ ПОЛЕЗНО В РЕАЛЬНОМ РАЗГОВОРЕ.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670ea96ef054c0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324D0-5EB9-4E27-A84E-A7DD683D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ПРОБЛЕМА /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9B5DC-80E3-404D-86D3-3CB6DC88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Теория не готовит к цене ошибки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4428D-EDC2-4557-BBFD-3CCBEC38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CCF16-D50A-4C64-8AE9-03C78885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99E37-5C4F-4A81-A80A-930A92D0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857375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Реальный разговор дорог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AF52D-8F3E-46F0-9496-7090A118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2669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Ошибка в цене, сроке или обязательстве сразу влияет на результат.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121C5-8872-40B4-89B3-36E634D0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33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B6B61-970C-47ED-BE42-F8178F77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575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9FA30-4E15-44A7-A7A9-A1AEFBEB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248025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Практику трудно повторить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571A6-3C3B-4AF5-93DA-41274532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5760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Одинаковый кейс редко проходит в одинаковых условиях. Сравнение теряет смысл.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2D9D8-8197-47E7-A413-3284A93D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29A31-D96A-4B41-B22E-5FA501B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36A80-00EB-44FB-83DE-41770FD4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638675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Разбору не хватает фактов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D474E-23F5-482A-9CD3-25A6B40D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482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После разговора сложно связать конкретный ход с изменением предложения и итогом.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EDE7C-9371-4B87-8E01-6EBC4590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07142-64C6-4853-AA02-D6C03B84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ALOLA создаёт повторяемую среду: ход, проверка, последствие, разбор.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37af6181b7f4ed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D6E03-B2C7-48CC-8D54-60E5A00C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МЕХАНИКА /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7DEFE-9A72-4E95-B747-B183BC53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ALOLA разделяет экономику сделки и язык диалога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3CDBA-95F7-488B-9454-B9B65E38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19FE9-2661-4F1D-BFA3-71411B70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ДВИЖОК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0537D-0B0B-4042-9316-41CF4474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Проверяет полный пакет условий, utility, порог приемлемости и hard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87D38-34BE-4999-AB67-A4F02473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E5595-1647-4F62-9524-BF5C5A23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5E77A-10C4-4001-90FF-F8FA57C4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Формулирует реплику, поддерживает контекст и создаёт evidence-linked разбор.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7A7F8-4501-4BF8-A40A-BB05351E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Natural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3D768-1123-43D9-BB36-94E2E1C0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10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0DB1E-7086-4459-8ACF-8C8F6D2C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767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Typed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2599D-536C-4F2C-A075-E8F741EF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10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708A2-847E-4EB2-95C7-50273792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76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Validated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767BE-BA0D-4933-A522-FBF7DFBD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10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E8692-0E37-4881-A2A2-9FAD128F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Event log +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444AA-181B-4051-AEEE-DB52BD96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2053C-3964-4DFC-B50C-A9E71E5A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Модель не может изменить условия сделки или подтвердить её в обход движка.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2735bc91720444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1CAF7C-A569-4167-8776-13A39A0F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АРХИТЕКТУРА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0859F-4D20-42DB-9FFF-A30BF062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Свободный текст проходит через детерминированный движок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31719-E8AA-4744-A63E-D4D05396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4835C-7F83-45EB-BBFF-B36AE58D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51602-5196-42D4-9734-C96B27E2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Человек или агент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4BB11-DD0C-408F-ABA6-BF23B11D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natural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E2C03-6509-4343-8141-014E1AB6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D4BE9-797B-4144-9CC7-0895B5EF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B732F-B9B4-46C5-9EB4-A019CAA6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Player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B61CD-0B7C-435C-9D44-9FAF8DCD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один контракт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1691F-8F76-474E-BA37-4AECEF5A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BC66B-6601-467F-BE01-AA187A5F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91786-6DB6-4146-9841-C27D60FC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Parser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35C51-6471-4665-A079-56364A35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typed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CDE4D-09D7-4BD3-8994-09033369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9E7FF-2FCA-4D28-B459-D1CEE462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7679B-5B82-471C-A06A-4753C0BC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Validator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86DEC-9163-4C3E-AE72-841711D4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constraints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59308-330E-4FA3-9F4E-337F6F74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6E5F0-1AB5-49F7-A90F-D44E8A23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520977"/>
          </a:solidFill>
          <a:ln xmlns:a="http://schemas.openxmlformats.org/drawingml/2006/main" w="9525">
            <a:solidFill>
              <a:srgbClr val="5209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9FBE88-D9CB-4546-9B3B-86DD2D79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Engine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F1B5F-7947-4A4A-B97C-A4A745F1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utility +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E14550-D6F6-4085-A831-1E22EBCD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E002F-8A63-48F0-BFAF-1FCC1E2E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175D00-AF62-476A-B6FC-CC0AFBA2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Event log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688D7-B062-4EB9-8411-5E5BB1FD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sealed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7EF12D-8ADE-4C1A-940A-8DE4C9E3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2A644D-FB79-4026-9FF5-59CF6FA3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028414-53DD-40CA-B8C9-883131DF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9DC3A1-9826-4262-9233-5E503A5D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факты + повтор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F5C931-FF64-4D71-AFD7-5EFE62CA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29075"/>
            <a:ext cx="904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ScenarioVersion хранит authored truth. Observation скрывает hidden state. Offer revision содержит полный пакет условий.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47BD42-B691-4FAD-92AA-90032DC8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C2C2FC-1BF1-4451-B78E-4DAE66E0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Player API даёт людям и агентам одинаковые правила доступа к сценарию.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5b5846ad05a43e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33A24-78AC-4A05-8757-4796AA51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ДЕМОНСТРАЦИЯ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F65D4-0BDE-4B6C-B764-9034C92B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Одна сессия даёт разговор и доказательный разбор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C821B-1080-43BF-8386-F412C47B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52ea8571d43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809750"/>
            <a:ext cx="53340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5d34a3ad040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809750"/>
            <a:ext cx="53340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C83A2-FE68-43F2-AF8E-24EC4331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53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Живой диалог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09AF9-1DE4-42C1-A4EE-1B08F46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769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Ход, встречное предложение, явная редакция условий.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9574D-E637-4502-AF50-7ECD8B46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53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Разбор по фактам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BB1FC-AE67-4234-98BA-BAB3286D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769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Результат, экономика, BATNA и точка для повтора.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056337fdb1d4b5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34B8E-9A0B-4D51-86FF-3FCF50E5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ПИЛОТ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0C6FB-E6C7-41D4-9EFC-2BC790FE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Пилот начинается с одной учебной группы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705F3-98F5-4975-BC7A-E2E6CFD4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0DE01-09E7-4A79-A575-51953528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СЕЙЧАС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B6B85-6230-4D13-AA3E-107711A8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MVP работает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C7C53-9C9B-4CDC-B40E-9A8B3B5A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3143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B"/>
          </a:solidFill>
          <a:ln xmlns:a="http://schemas.openxmlformats.org/drawingml/2006/main" w="0">
            <a:solidFill>
              <a:srgbClr val="E7F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57FD6-A395-45F6-BC95-45CBCACC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00425"/>
            <a:ext cx="26860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Живой диалог</a:t>
            </a:r>
          </a:p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Структурированная сделка</a:t>
            </a:r>
          </a:p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Разбор и повтор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B94AA-292A-4B2C-8E2D-E0A24585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 МЕСЯЦ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A2CF4-0E8B-4570-A9D4-F26AAE76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Кабинет преподавателя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3055F-4DD7-4A39-BC56-EDD9BF98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3143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14182-A0DF-4F99-A156-956CE786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00425"/>
            <a:ext cx="26860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Задания для группы</a:t>
            </a:r>
          </a:p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Сравнение попыток</a:t>
            </a:r>
          </a:p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Экспорт результатов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C45B8-2EEC-4380-9BA1-A5831508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ДАЛЬШЕ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534D1-88C2-481F-B60B-8D9F2CC0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Три первых сегмента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5FFC8-0882-4486-9F66-BE614511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43250"/>
            <a:ext cx="3143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FE8C8-FAD6-40E7-AAB9-658E1BBE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00425"/>
            <a:ext cx="26860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Вузы</a:t>
            </a:r>
          </a:p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Корпоративное обучение</a:t>
            </a:r>
          </a:p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Школы переговоров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B51EE-8619-4BDE-A263-8BC69728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FCF5A-76E8-4F9A-AB88-FF4FD7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Критерий пилота: преподаватель видит, какой ход изменил предложение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02cb112227643b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75CE3-C64B-41F5-85FA-5A6DA185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МЕТОДОЛОГИЯ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16B55-ED6C-493C-A901-39CE3975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Методология задаёт, что считать хорошими переговорами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0E574-6F0E-4D09-9670-CD44BAF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7DA81-0950-422E-B087-3DE57E3E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87924-B174-4ACE-8787-ADF70873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431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Гарвардский метод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1F0ED-0469-4E86-9F4A-9AFBF158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352675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Интересы, варианты и объективные критерии отделяются от позиции.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BD40B-E886-4E3B-8ECB-13D4C521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F2C69-0776-4448-9F93-C9E31F7A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E00F5-7058-4574-977F-6CE4AF75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9431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BATNA и порог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A6ED9-7909-42BB-B691-432B6E59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BATNA описывает лучший исход без сделки. Порог задаёт минимально приемлемый результат.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3691D-4063-4635-84D6-BDFC8440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33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C6C64-33A5-4C4A-87FE-3F331D84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B881E-4004-4523-A7A8-73C1113F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57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ZOPA и Pareto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4DF41-2179-44C4-A136-F82D41F5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067175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Система ищет многомерные пакеты и отличает создание ценности от её распределения.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4B63F-7259-4A39-975D-0D1A7567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67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23728-81E4-439A-AB0A-B1E7A3F4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57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Тактики Восса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16C03-76F7-478B-A220-B0481490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67175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Labels, mirrors, summaries и вопросы «что» и «как» поддерживают процесс.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3F28-9E65-47EE-AE32-4270B2C0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8722A-80D4-4D0F-8A42-154216FD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Движок выбирает допустимое действие. LLM формулирует его и связывает разбор с репликами.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ba11a5ef7684ff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AA6C2-67FB-4D93-BE3B-AF9532CE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LLM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AB521-2878-452C-888D-D415A95B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Каждая LLM решает одну задачу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6D06D-656A-42A0-B394-98C6DD9A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8CD11-C360-4ED5-BA31-75CB84E5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Настройка модели привязана к ожидаемому эффекту. Движок сохраняет контроль над сделкой.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5AB61-C161-43FF-B580-FCE2052F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1114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FA8F7-2534-4A37-BE8F-44DCBD38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1114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23875" y="2305050"/>
          <a:ext xmlns:a="http://schemas.openxmlformats.org/drawingml/2006/main" cx="1114425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86063"/>
                <a:gridCol w="3231833"/>
                <a:gridCol w="5126355"/>
              </a:tblGrid>
              <a:tr h="514350">
                <a:tc>
                  <a:txBody>
                    <a:bodyPr/>
                    <a:lstStyle/>
                    <a:p>
                      <a:r>
                        <a:t>Задача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Модель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Ожидаемый эффект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t>Диалог NPC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deepseek-v4.1-flash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Быстрая естественная реплика. Thinking выключен. Grounding обязателен.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t>Control tasks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deepseek-v4-flash-0731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Структурная обработка. Действие проходит validator и engine.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t>Итоговый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qwen3.8-max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Редкий глубокий разбор по sealed transcript и evidence.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E4FEF-C116-43F1-A8E8-FA2BE41F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95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11 моделей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F9F25-9E18-4756-803D-FDCBB35A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95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220 fresh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AA158-375B-4D0B-898C-D8E6F923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95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role swap, RU/EN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6B92C-3D4F-4A5B-B9A2-F2F11F5E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495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метрики переговорной задачи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ca049efdf4147f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0EBEF3-C5CA-417C-81AE-E4005514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СИМУЛЯЦИЯ /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FADA9-9D01-43B5-991E-DE56B0B5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Отношения меняют тон. Условия сделки остаются прежними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B66A7-4027-460A-82AE-55383CEB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F0D04-3C5C-4514-A4B8-074DD410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81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Базовое состояние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AB8A2-D2C0-4B27-AA24-B0182FA9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57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RAPPORT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40A13-BEEC-40BA-AEED-209F009E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812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46B4F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246B4F"/>
                </a:solidFill>
                <a:latin typeface="Montserrat"/>
                <a:ea typeface="Montserrat"/>
                <a:cs typeface="Montserrat"/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D7387-4E4C-430C-B163-B6B90D11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482C4-D550-4730-9584-7C8455EB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96440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4F"/>
          </a:solidFill>
          <a:ln xmlns:a="http://schemas.openxmlformats.org/drawingml/2006/main" w="0">
            <a:solidFill>
              <a:srgbClr val="246B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C8265-4147-4D2C-950E-4C220CC8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57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CREDIBILITY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76597-98F0-4B6D-8FD7-FCE52BA0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5812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9AC5E-A69B-4C60-B2CD-FA236755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52775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B8561-AC6D-47BE-8A59-C1EA7089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52775"/>
            <a:ext cx="1285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0977"/>
          </a:solidFill>
          <a:ln xmlns:a="http://schemas.openxmlformats.org/drawingml/2006/main" w="0">
            <a:solidFill>
              <a:srgbClr val="5209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73BA8-65DE-4B2A-9942-5B1210FE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57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TENSION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286EE-589E-4A90-A7E7-6DDF2B1C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812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9822B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D9822B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5B041-C1FC-47AC-B7FD-F9C87F29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152775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209A6-D4EF-4723-9238-74ECC7D9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152775"/>
            <a:ext cx="21431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D982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FBA719-773D-4EE1-AC04-4BACA43A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57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PATIENCE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C276C-D741-4C59-AD90-42A4DDF0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812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D9D78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2D9D78"/>
                </a:solidFill>
                <a:latin typeface="Montserrat"/>
                <a:ea typeface="Montserrat"/>
                <a:cs typeface="Montserrat"/>
              </a:rPr>
              <a:t>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13109-75CF-4795-B72F-C694B29E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52775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FDE58-104A-42ED-86F1-3876B6B2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5277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78"/>
          </a:solidFill>
          <a:ln xmlns:a="http://schemas.openxmlformats.org/drawingml/2006/main" w="0">
            <a:solidFill>
              <a:srgbClr val="2D9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9AB89-35B1-47F3-82FE-7B3BF331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graphicFrame>
        <p:nvGraphicFramePr>
          <p:cNvPr id="45" name=""/>
          <p:cNvGraphicFramePr/>
          <p:nvPr/>
        </p:nvGraphicFramePr>
        <p:xfrm>
          <a:off xmlns:a="http://schemas.openxmlformats.org/drawingml/2006/main" x="523875" y="3638550"/>
          <a:ext xmlns:a="http://schemas.openxmlformats.org/drawingml/2006/main" cx="11144250" cy="2095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89250"/>
                <a:gridCol w="2682875"/>
                <a:gridCol w="5572125"/>
              </a:tblGrid>
              <a:tr h="438150">
                <a:tc>
                  <a:txBody>
                    <a:bodyPr/>
                    <a:lstStyle/>
                    <a:p>
                      <a:r>
                        <a:t>Событие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Изменение шкал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Эффект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Уместный вопрос о Гуффи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rapport +3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Реплика становится теплее. Экономика не меняется.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Оскорбление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rapport -6, tension +8, patience -4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Тон становится жёстче. Терпение снижается.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Извинение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rapport +2, tension -5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Напряжение снижается. Порог сделки остаётся прежним.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6F91F-2685-44AE-8B14-5E99660C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531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Параметры симуляции 0–100. Они не являются психометрическими измерениями человека.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f77115cd4014ee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715CA-EED0-4EEF-A001-1D8DF71E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КОНТЕКСТ /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B8EE1-A895-4A23-A252-FBEB9003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Гуффи проверяет память и естественность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5D701-619A-4242-91FE-7A6857D5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0729D-BE29-4B1E-98F0-97E6FDC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5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0F5DA-8D97-4BFF-8444-F9099459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431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97D52-69B2-48FF-B272-87E0DCB8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555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EF65E-F6E0-45D1-A10B-068D72F7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rapport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CF92B-6437-49B7-950E-4E4C5B8D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383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4CE23-E7D0-4610-8DDD-1AF691D7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28825"/>
            <a:ext cx="497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Безопасный личный факт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8FA4A-D03F-4FF4-8409-D9E41A0A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38400"/>
            <a:ext cx="497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У NPC есть собака по имени Гуффи. Тема даёт естественный вход в small talk.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8B533-89F8-40B8-BB81-631F1E4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051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04BFE-2DAE-4F26-9E73-7B76C0CC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861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24D6C-0123-402E-8303-AD18FE82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76625"/>
            <a:ext cx="497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 контекста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0D050-CB45-43B0-BA93-82F3985E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86200"/>
            <a:ext cx="497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Уместный вопрос показывает внимание к деталям и умение вернуться к предмету сделки.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22183-8D88-4ADD-8603-C99559FD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529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19CA9-B24A-4A8F-AE47-3897C51C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339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61EE3-3525-4035-AD77-1CC98325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924425"/>
            <a:ext cx="497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Ограниченный эффект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0CDCC-6F26-40BC-8147-3E4586CA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334000"/>
            <a:ext cx="497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Rapport растёт на 3. Credibility, utility и условия сделки не меняются.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0D3EF-7946-44C9-A623-CCB00CE3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9625"/>
            <a:ext cx="4143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Повторение темы получает penalty. Гуффи не является механикой скидки.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43d07251a98428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D0EB81-1800-4C1A-AB6A-B453A49A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АГЕНТЫ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ECAEF-5B0D-47B0-B626-B38F2FB8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Две LLM сравниваются в одинаковых условиях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5658D-DE19-4711-913A-36A9E6EA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39E72-4D1B-4D7B-8018-702011CB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1857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5373F-F451-47B1-B644-5072AE00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LLM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8FBAA-0E5C-42B5-AF47-E656EB00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роль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CBACE-2FA5-48E4-8A04-3BC8971B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62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044A0-25E2-44EC-BA80-A43A1A07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2000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E6EE"/>
          </a:solidFill>
          <a:ln xmlns:a="http://schemas.openxmlformats.org/drawingml/2006/main" w="9525">
            <a:solidFill>
              <a:srgbClr val="FF00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E1984-FA06-4BF2-88CE-CB44DFD6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Player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8B0FC-CF77-4CFE-8CF4-FD8F77DB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MCP 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FDC07-F099-4266-9441-8D311300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62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F1E6B-B49D-495F-9903-9D39679B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47875"/>
            <a:ext cx="1905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520977"/>
          </a:solidFill>
          <a:ln xmlns:a="http://schemas.openxmlformats.org/drawingml/2006/main" w="9525">
            <a:solidFill>
              <a:srgbClr val="5209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4B568-83A5-4CF8-8D96-60316D4A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05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ALOLA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B14BB-D776-464A-88F9-DF6C8048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84286-8A5B-443D-AC36-4C07FFF2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62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317E2-CCB5-471B-8C1E-70085B0E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000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E6EE"/>
          </a:solidFill>
          <a:ln xmlns:a="http://schemas.openxmlformats.org/drawingml/2006/main" w="9525">
            <a:solidFill>
              <a:srgbClr val="FF00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924E6-B7EB-42D5-8A6B-4B417D24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Player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156B9-F253-4007-84D6-C859E6C3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MCP 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C89AE-4C98-4C7C-951D-B3F8BA63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62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BD4F8-1CD5-4C63-9098-57FF40B1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47875"/>
            <a:ext cx="1476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E632F-8732-4AA8-BB33-550A74DB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050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LLM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8C80C5-374C-4740-8D8A-0A545901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860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роль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E140A-5528-4168-9C44-B111CE7C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СЕЙЧАС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9087C-2E62-4638-8847-D44F18EA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Player API и CLI self-play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CC65D-5C7F-45FE-AFDB-99DDB159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457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MCP-адаптер остаётся следующим интерфейсом поверх тех же безопасных операций.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B48F8F-376A-4C9F-99EF-A39DC372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СРАВНИВАЕМ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1591F1-7146-4CB5-916A-DE16DEC1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Agreement, utility, constraints, вопросы, latency, fallback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1C95AB-290B-46AF-8660-ADB16211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958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Вывод относится к переговорным когнитивным навыкам в заданной среде.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F6792F-54C4-44AB-8DB3-AAC47611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B34EDC-1B9F-468B-A8EB-92F96FBB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Одинаковый сценарий, fresh sessions, смена ролей, RU/EN и sealed transcript.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2026-09-28T21:48:14.2860000Z</dcterms:created>
  <dcterms:modified xsi:type="dcterms:W3CDTF">2026-09-28T21:48:14.2860000Z</dcterms:modified>
</coreProperties>
</file>